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hyperlink" Target="http://localhost:8888/notebooks/PDAS/CA1Draft.ipynb?" TargetMode="Externa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localhost:8888/notebooks/PDAS/CA1Draft.ipynb?" TargetMode="External"/><Relationship Id="rId7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82C044-CFB1-46CA-9454-B061A0DAC3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05D6CC3-1318-4D65-8798-43E580BEE5AC}">
      <dgm:prSet/>
      <dgm:spPr/>
      <dgm:t>
        <a:bodyPr/>
        <a:lstStyle/>
        <a:p>
          <a:r>
            <a:rPr lang="en-US"/>
            <a:t>1. Importing Files, Modules and Packages</a:t>
          </a:r>
          <a:r>
            <a:rPr lang="en-US" u="sng">
              <a:hlinkClick xmlns:r="http://schemas.openxmlformats.org/officeDocument/2006/relationships" r:id="rId1"/>
            </a:rPr>
            <a:t>¶</a:t>
          </a:r>
          <a:endParaRPr lang="en-US"/>
        </a:p>
      </dgm:t>
    </dgm:pt>
    <dgm:pt modelId="{E959C432-5069-4534-B94E-EEBED16E5929}" type="parTrans" cxnId="{0CF9A67D-C933-4B48-B464-5040B6278275}">
      <dgm:prSet/>
      <dgm:spPr/>
      <dgm:t>
        <a:bodyPr/>
        <a:lstStyle/>
        <a:p>
          <a:endParaRPr lang="en-US"/>
        </a:p>
      </dgm:t>
    </dgm:pt>
    <dgm:pt modelId="{C12E843A-B10F-4639-B907-E3D245FFC1B6}" type="sibTrans" cxnId="{0CF9A67D-C933-4B48-B464-5040B6278275}">
      <dgm:prSet/>
      <dgm:spPr/>
      <dgm:t>
        <a:bodyPr/>
        <a:lstStyle/>
        <a:p>
          <a:endParaRPr lang="en-US"/>
        </a:p>
      </dgm:t>
    </dgm:pt>
    <dgm:pt modelId="{632E72AF-01DC-49D7-A786-A8DE98B92F84}">
      <dgm:prSet/>
      <dgm:spPr/>
      <dgm:t>
        <a:bodyPr/>
        <a:lstStyle/>
        <a:p>
          <a:r>
            <a:rPr lang="en-SG"/>
            <a:t>2. Processing the Data</a:t>
          </a:r>
          <a:endParaRPr lang="en-US"/>
        </a:p>
      </dgm:t>
    </dgm:pt>
    <dgm:pt modelId="{11164AEF-B712-4A46-AADA-124410A4C2E0}" type="parTrans" cxnId="{6556059D-9FE1-4B8C-A4CC-7AD5F80114F3}">
      <dgm:prSet/>
      <dgm:spPr/>
      <dgm:t>
        <a:bodyPr/>
        <a:lstStyle/>
        <a:p>
          <a:endParaRPr lang="en-US"/>
        </a:p>
      </dgm:t>
    </dgm:pt>
    <dgm:pt modelId="{9FA2C82D-783F-49D5-ADBE-DF8CFAB98554}" type="sibTrans" cxnId="{6556059D-9FE1-4B8C-A4CC-7AD5F80114F3}">
      <dgm:prSet/>
      <dgm:spPr/>
      <dgm:t>
        <a:bodyPr/>
        <a:lstStyle/>
        <a:p>
          <a:endParaRPr lang="en-US"/>
        </a:p>
      </dgm:t>
    </dgm:pt>
    <dgm:pt modelId="{33FC15D5-16BB-46E4-94EE-CA5C0CAF0BF0}">
      <dgm:prSet/>
      <dgm:spPr/>
      <dgm:t>
        <a:bodyPr/>
        <a:lstStyle/>
        <a:p>
          <a:r>
            <a:rPr lang="en-SG" dirty="0"/>
            <a:t>3. Dataset Refinement for Question</a:t>
          </a:r>
          <a:endParaRPr lang="en-US" dirty="0"/>
        </a:p>
      </dgm:t>
    </dgm:pt>
    <dgm:pt modelId="{095F4B0C-EED1-4C5D-88B1-2E39A00EAF17}" type="parTrans" cxnId="{89819CF4-5D24-489A-8CE2-571B6B24A24E}">
      <dgm:prSet/>
      <dgm:spPr/>
      <dgm:t>
        <a:bodyPr/>
        <a:lstStyle/>
        <a:p>
          <a:endParaRPr lang="en-US"/>
        </a:p>
      </dgm:t>
    </dgm:pt>
    <dgm:pt modelId="{897DA438-BEBA-4B80-9FDE-EE93B724DF7F}" type="sibTrans" cxnId="{89819CF4-5D24-489A-8CE2-571B6B24A24E}">
      <dgm:prSet/>
      <dgm:spPr/>
      <dgm:t>
        <a:bodyPr/>
        <a:lstStyle/>
        <a:p>
          <a:endParaRPr lang="en-US"/>
        </a:p>
      </dgm:t>
    </dgm:pt>
    <dgm:pt modelId="{5BF11389-39CF-4138-9AA3-FF787CD32338}">
      <dgm:prSet/>
      <dgm:spPr/>
      <dgm:t>
        <a:bodyPr/>
        <a:lstStyle/>
        <a:p>
          <a:r>
            <a:rPr lang="en-SG" dirty="0"/>
            <a:t>4. Graphical Analysis</a:t>
          </a:r>
          <a:endParaRPr lang="en-US" dirty="0"/>
        </a:p>
      </dgm:t>
    </dgm:pt>
    <dgm:pt modelId="{8F0E736A-FF3D-47CA-8EE2-44381DC956F3}" type="parTrans" cxnId="{B4CF05C1-59A2-487A-9EE2-EFC608A85B05}">
      <dgm:prSet/>
      <dgm:spPr/>
      <dgm:t>
        <a:bodyPr/>
        <a:lstStyle/>
        <a:p>
          <a:endParaRPr lang="en-US"/>
        </a:p>
      </dgm:t>
    </dgm:pt>
    <dgm:pt modelId="{D60D8EB9-A7DD-4B5B-AD31-BDC77F477376}" type="sibTrans" cxnId="{B4CF05C1-59A2-487A-9EE2-EFC608A85B05}">
      <dgm:prSet/>
      <dgm:spPr/>
      <dgm:t>
        <a:bodyPr/>
        <a:lstStyle/>
        <a:p>
          <a:endParaRPr lang="en-US"/>
        </a:p>
      </dgm:t>
    </dgm:pt>
    <dgm:pt modelId="{5CE8DC43-72FD-4F99-8888-B4C2FA2078B8}">
      <dgm:prSet/>
      <dgm:spPr/>
      <dgm:t>
        <a:bodyPr/>
        <a:lstStyle/>
        <a:p>
          <a:r>
            <a:rPr lang="en-SG" dirty="0"/>
            <a:t>5. Final Reflection</a:t>
          </a:r>
          <a:endParaRPr lang="en-US" dirty="0"/>
        </a:p>
      </dgm:t>
    </dgm:pt>
    <dgm:pt modelId="{6D4E4FA2-6C3B-40A0-A191-77C3B0C3842A}" type="parTrans" cxnId="{98F94E3B-808A-4AA0-A9F8-60DBEB318528}">
      <dgm:prSet/>
      <dgm:spPr/>
      <dgm:t>
        <a:bodyPr/>
        <a:lstStyle/>
        <a:p>
          <a:endParaRPr lang="en-US"/>
        </a:p>
      </dgm:t>
    </dgm:pt>
    <dgm:pt modelId="{D45D7C14-A55A-48D7-A323-A315D2DD88E2}" type="sibTrans" cxnId="{98F94E3B-808A-4AA0-A9F8-60DBEB318528}">
      <dgm:prSet/>
      <dgm:spPr/>
      <dgm:t>
        <a:bodyPr/>
        <a:lstStyle/>
        <a:p>
          <a:endParaRPr lang="en-US"/>
        </a:p>
      </dgm:t>
    </dgm:pt>
    <dgm:pt modelId="{381CF078-0A2A-41C6-8002-78F67A3B44D1}" type="pres">
      <dgm:prSet presAssocID="{1682C044-CFB1-46CA-9454-B061A0DAC307}" presName="root" presStyleCnt="0">
        <dgm:presLayoutVars>
          <dgm:dir/>
          <dgm:resizeHandles val="exact"/>
        </dgm:presLayoutVars>
      </dgm:prSet>
      <dgm:spPr/>
    </dgm:pt>
    <dgm:pt modelId="{7CA1FB1F-4C8B-4A90-8CDC-DC935BCF44C5}" type="pres">
      <dgm:prSet presAssocID="{205D6CC3-1318-4D65-8798-43E580BEE5AC}" presName="compNode" presStyleCnt="0"/>
      <dgm:spPr/>
    </dgm:pt>
    <dgm:pt modelId="{FE6A34A2-E77F-406D-A32C-F257CF6F42E1}" type="pres">
      <dgm:prSet presAssocID="{205D6CC3-1318-4D65-8798-43E580BEE5AC}" presName="bgRect" presStyleLbl="bgShp" presStyleIdx="0" presStyleCnt="5"/>
      <dgm:spPr/>
    </dgm:pt>
    <dgm:pt modelId="{2DB13B18-C8DC-4D13-9648-8F61DAD4D294}" type="pres">
      <dgm:prSet presAssocID="{205D6CC3-1318-4D65-8798-43E580BEE5AC}" presName="iconRect" presStyleLbl="node1" presStyleIdx="0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44F838E7-9EF6-4E2F-A2D2-5A6FCB0F985D}" type="pres">
      <dgm:prSet presAssocID="{205D6CC3-1318-4D65-8798-43E580BEE5AC}" presName="spaceRect" presStyleCnt="0"/>
      <dgm:spPr/>
    </dgm:pt>
    <dgm:pt modelId="{1D4FFBAB-7DAD-439D-BD15-6D1B646EA0C6}" type="pres">
      <dgm:prSet presAssocID="{205D6CC3-1318-4D65-8798-43E580BEE5AC}" presName="parTx" presStyleLbl="revTx" presStyleIdx="0" presStyleCnt="5">
        <dgm:presLayoutVars>
          <dgm:chMax val="0"/>
          <dgm:chPref val="0"/>
        </dgm:presLayoutVars>
      </dgm:prSet>
      <dgm:spPr/>
    </dgm:pt>
    <dgm:pt modelId="{C8999100-A166-44EE-B43A-B2DA57D63941}" type="pres">
      <dgm:prSet presAssocID="{C12E843A-B10F-4639-B907-E3D245FFC1B6}" presName="sibTrans" presStyleCnt="0"/>
      <dgm:spPr/>
    </dgm:pt>
    <dgm:pt modelId="{45722067-DE1E-4801-8621-D3DFE1F97E08}" type="pres">
      <dgm:prSet presAssocID="{632E72AF-01DC-49D7-A786-A8DE98B92F84}" presName="compNode" presStyleCnt="0"/>
      <dgm:spPr/>
    </dgm:pt>
    <dgm:pt modelId="{A0117D7C-8E7C-4B48-BAAB-56CAB4B03FCC}" type="pres">
      <dgm:prSet presAssocID="{632E72AF-01DC-49D7-A786-A8DE98B92F84}" presName="bgRect" presStyleLbl="bgShp" presStyleIdx="1" presStyleCnt="5"/>
      <dgm:spPr/>
    </dgm:pt>
    <dgm:pt modelId="{F887D852-9398-4B66-BAB1-41F11D238769}" type="pres">
      <dgm:prSet presAssocID="{632E72AF-01DC-49D7-A786-A8DE98B92F84}" presName="iconRect" presStyleLbl="node1" presStyleIdx="1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283D53B-DE6C-4768-89FC-081AE125D54B}" type="pres">
      <dgm:prSet presAssocID="{632E72AF-01DC-49D7-A786-A8DE98B92F84}" presName="spaceRect" presStyleCnt="0"/>
      <dgm:spPr/>
    </dgm:pt>
    <dgm:pt modelId="{A1E91B8A-ABAB-44DE-BFE2-276DE982F449}" type="pres">
      <dgm:prSet presAssocID="{632E72AF-01DC-49D7-A786-A8DE98B92F84}" presName="parTx" presStyleLbl="revTx" presStyleIdx="1" presStyleCnt="5">
        <dgm:presLayoutVars>
          <dgm:chMax val="0"/>
          <dgm:chPref val="0"/>
        </dgm:presLayoutVars>
      </dgm:prSet>
      <dgm:spPr/>
    </dgm:pt>
    <dgm:pt modelId="{6AD138D4-CD07-4618-BED6-F4BADDB328D3}" type="pres">
      <dgm:prSet presAssocID="{9FA2C82D-783F-49D5-ADBE-DF8CFAB98554}" presName="sibTrans" presStyleCnt="0"/>
      <dgm:spPr/>
    </dgm:pt>
    <dgm:pt modelId="{F293681E-FA1C-44CF-B4B5-C4FA60BB84FB}" type="pres">
      <dgm:prSet presAssocID="{33FC15D5-16BB-46E4-94EE-CA5C0CAF0BF0}" presName="compNode" presStyleCnt="0"/>
      <dgm:spPr/>
    </dgm:pt>
    <dgm:pt modelId="{7C5838EF-37A7-42BA-9325-ED4D6A76D016}" type="pres">
      <dgm:prSet presAssocID="{33FC15D5-16BB-46E4-94EE-CA5C0CAF0BF0}" presName="bgRect" presStyleLbl="bgShp" presStyleIdx="2" presStyleCnt="5"/>
      <dgm:spPr/>
    </dgm:pt>
    <dgm:pt modelId="{100F0064-CA5E-4DDD-B646-1633FEE350D1}" type="pres">
      <dgm:prSet presAssocID="{33FC15D5-16BB-46E4-94EE-CA5C0CAF0BF0}" presName="iconRect" presStyleLbl="node1" presStyleIdx="2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BC52E13-7CB2-4D6B-9C80-2BE7F986BDB0}" type="pres">
      <dgm:prSet presAssocID="{33FC15D5-16BB-46E4-94EE-CA5C0CAF0BF0}" presName="spaceRect" presStyleCnt="0"/>
      <dgm:spPr/>
    </dgm:pt>
    <dgm:pt modelId="{EA9A7AE7-8087-4C1D-AE91-6DA1455600F7}" type="pres">
      <dgm:prSet presAssocID="{33FC15D5-16BB-46E4-94EE-CA5C0CAF0BF0}" presName="parTx" presStyleLbl="revTx" presStyleIdx="2" presStyleCnt="5">
        <dgm:presLayoutVars>
          <dgm:chMax val="0"/>
          <dgm:chPref val="0"/>
        </dgm:presLayoutVars>
      </dgm:prSet>
      <dgm:spPr/>
    </dgm:pt>
    <dgm:pt modelId="{A89E6312-6EEB-4DBC-82AA-086873C944F3}" type="pres">
      <dgm:prSet presAssocID="{897DA438-BEBA-4B80-9FDE-EE93B724DF7F}" presName="sibTrans" presStyleCnt="0"/>
      <dgm:spPr/>
    </dgm:pt>
    <dgm:pt modelId="{0126317B-EBC2-4C21-BB8B-C8327CDC9C49}" type="pres">
      <dgm:prSet presAssocID="{5BF11389-39CF-4138-9AA3-FF787CD32338}" presName="compNode" presStyleCnt="0"/>
      <dgm:spPr/>
    </dgm:pt>
    <dgm:pt modelId="{66EDB16D-BC8F-41DE-8EF7-B8D4D2BC938F}" type="pres">
      <dgm:prSet presAssocID="{5BF11389-39CF-4138-9AA3-FF787CD32338}" presName="bgRect" presStyleLbl="bgShp" presStyleIdx="3" presStyleCnt="5"/>
      <dgm:spPr/>
    </dgm:pt>
    <dgm:pt modelId="{871B7986-945C-4730-A16D-E77B440C9EF1}" type="pres">
      <dgm:prSet presAssocID="{5BF11389-39CF-4138-9AA3-FF787CD32338}" presName="iconRect" presStyleLbl="node1" presStyleIdx="3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898BC52-4ABF-4944-9DFB-F2949D752F53}" type="pres">
      <dgm:prSet presAssocID="{5BF11389-39CF-4138-9AA3-FF787CD32338}" presName="spaceRect" presStyleCnt="0"/>
      <dgm:spPr/>
    </dgm:pt>
    <dgm:pt modelId="{B670AA64-2652-4BCE-8273-157FB564F650}" type="pres">
      <dgm:prSet presAssocID="{5BF11389-39CF-4138-9AA3-FF787CD32338}" presName="parTx" presStyleLbl="revTx" presStyleIdx="3" presStyleCnt="5">
        <dgm:presLayoutVars>
          <dgm:chMax val="0"/>
          <dgm:chPref val="0"/>
        </dgm:presLayoutVars>
      </dgm:prSet>
      <dgm:spPr/>
    </dgm:pt>
    <dgm:pt modelId="{5A92AE94-DCC5-4546-BFD5-740C1A648C1F}" type="pres">
      <dgm:prSet presAssocID="{D60D8EB9-A7DD-4B5B-AD31-BDC77F477376}" presName="sibTrans" presStyleCnt="0"/>
      <dgm:spPr/>
    </dgm:pt>
    <dgm:pt modelId="{0030F9FC-62C0-41FA-BD77-FF4FC2AB4446}" type="pres">
      <dgm:prSet presAssocID="{5CE8DC43-72FD-4F99-8888-B4C2FA2078B8}" presName="compNode" presStyleCnt="0"/>
      <dgm:spPr/>
    </dgm:pt>
    <dgm:pt modelId="{ED808242-01B8-448C-82D3-CF1FD91994EB}" type="pres">
      <dgm:prSet presAssocID="{5CE8DC43-72FD-4F99-8888-B4C2FA2078B8}" presName="bgRect" presStyleLbl="bgShp" presStyleIdx="4" presStyleCnt="5"/>
      <dgm:spPr/>
    </dgm:pt>
    <dgm:pt modelId="{D47B17AE-66A8-401F-AB3A-308CF3D62AF4}" type="pres">
      <dgm:prSet presAssocID="{5CE8DC43-72FD-4F99-8888-B4C2FA2078B8}" presName="iconRect" presStyleLbl="node1" presStyleIdx="4" presStyleCnt="5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D722D1AD-CB39-4197-8B0D-D0BC439E4E41}" type="pres">
      <dgm:prSet presAssocID="{5CE8DC43-72FD-4F99-8888-B4C2FA2078B8}" presName="spaceRect" presStyleCnt="0"/>
      <dgm:spPr/>
    </dgm:pt>
    <dgm:pt modelId="{2E41C238-08CD-4CD8-8359-F921D2F49B96}" type="pres">
      <dgm:prSet presAssocID="{5CE8DC43-72FD-4F99-8888-B4C2FA2078B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ED0AE09-43C5-4F36-887D-CA186712A58F}" type="presOf" srcId="{5BF11389-39CF-4138-9AA3-FF787CD32338}" destId="{B670AA64-2652-4BCE-8273-157FB564F650}" srcOrd="0" destOrd="0" presId="urn:microsoft.com/office/officeart/2018/2/layout/IconVerticalSolidList"/>
    <dgm:cxn modelId="{8C9D5329-5DB6-47BB-825C-D1B80C98402E}" type="presOf" srcId="{33FC15D5-16BB-46E4-94EE-CA5C0CAF0BF0}" destId="{EA9A7AE7-8087-4C1D-AE91-6DA1455600F7}" srcOrd="0" destOrd="0" presId="urn:microsoft.com/office/officeart/2018/2/layout/IconVerticalSolidList"/>
    <dgm:cxn modelId="{98F94E3B-808A-4AA0-A9F8-60DBEB318528}" srcId="{1682C044-CFB1-46CA-9454-B061A0DAC307}" destId="{5CE8DC43-72FD-4F99-8888-B4C2FA2078B8}" srcOrd="4" destOrd="0" parTransId="{6D4E4FA2-6C3B-40A0-A191-77C3B0C3842A}" sibTransId="{D45D7C14-A55A-48D7-A323-A315D2DD88E2}"/>
    <dgm:cxn modelId="{00C4E66A-4243-44DF-BCE1-59B67570EA5B}" type="presOf" srcId="{205D6CC3-1318-4D65-8798-43E580BEE5AC}" destId="{1D4FFBAB-7DAD-439D-BD15-6D1B646EA0C6}" srcOrd="0" destOrd="0" presId="urn:microsoft.com/office/officeart/2018/2/layout/IconVerticalSolidList"/>
    <dgm:cxn modelId="{0CF9A67D-C933-4B48-B464-5040B6278275}" srcId="{1682C044-CFB1-46CA-9454-B061A0DAC307}" destId="{205D6CC3-1318-4D65-8798-43E580BEE5AC}" srcOrd="0" destOrd="0" parTransId="{E959C432-5069-4534-B94E-EEBED16E5929}" sibTransId="{C12E843A-B10F-4639-B907-E3D245FFC1B6}"/>
    <dgm:cxn modelId="{6556059D-9FE1-4B8C-A4CC-7AD5F80114F3}" srcId="{1682C044-CFB1-46CA-9454-B061A0DAC307}" destId="{632E72AF-01DC-49D7-A786-A8DE98B92F84}" srcOrd="1" destOrd="0" parTransId="{11164AEF-B712-4A46-AADA-124410A4C2E0}" sibTransId="{9FA2C82D-783F-49D5-ADBE-DF8CFAB98554}"/>
    <dgm:cxn modelId="{7629D2AF-89F0-416B-B1F6-61A5D4976FAE}" type="presOf" srcId="{5CE8DC43-72FD-4F99-8888-B4C2FA2078B8}" destId="{2E41C238-08CD-4CD8-8359-F921D2F49B96}" srcOrd="0" destOrd="0" presId="urn:microsoft.com/office/officeart/2018/2/layout/IconVerticalSolidList"/>
    <dgm:cxn modelId="{B4CF05C1-59A2-487A-9EE2-EFC608A85B05}" srcId="{1682C044-CFB1-46CA-9454-B061A0DAC307}" destId="{5BF11389-39CF-4138-9AA3-FF787CD32338}" srcOrd="3" destOrd="0" parTransId="{8F0E736A-FF3D-47CA-8EE2-44381DC956F3}" sibTransId="{D60D8EB9-A7DD-4B5B-AD31-BDC77F477376}"/>
    <dgm:cxn modelId="{92AD5ADB-3042-4008-8D64-4A9DD15E5F11}" type="presOf" srcId="{632E72AF-01DC-49D7-A786-A8DE98B92F84}" destId="{A1E91B8A-ABAB-44DE-BFE2-276DE982F449}" srcOrd="0" destOrd="0" presId="urn:microsoft.com/office/officeart/2018/2/layout/IconVerticalSolidList"/>
    <dgm:cxn modelId="{F8F96EE5-D1D2-42D4-815D-4FD87DB1CCD7}" type="presOf" srcId="{1682C044-CFB1-46CA-9454-B061A0DAC307}" destId="{381CF078-0A2A-41C6-8002-78F67A3B44D1}" srcOrd="0" destOrd="0" presId="urn:microsoft.com/office/officeart/2018/2/layout/IconVerticalSolidList"/>
    <dgm:cxn modelId="{89819CF4-5D24-489A-8CE2-571B6B24A24E}" srcId="{1682C044-CFB1-46CA-9454-B061A0DAC307}" destId="{33FC15D5-16BB-46E4-94EE-CA5C0CAF0BF0}" srcOrd="2" destOrd="0" parTransId="{095F4B0C-EED1-4C5D-88B1-2E39A00EAF17}" sibTransId="{897DA438-BEBA-4B80-9FDE-EE93B724DF7F}"/>
    <dgm:cxn modelId="{BA53D8ED-2F99-444D-9098-3B269B3A3243}" type="presParOf" srcId="{381CF078-0A2A-41C6-8002-78F67A3B44D1}" destId="{7CA1FB1F-4C8B-4A90-8CDC-DC935BCF44C5}" srcOrd="0" destOrd="0" presId="urn:microsoft.com/office/officeart/2018/2/layout/IconVerticalSolidList"/>
    <dgm:cxn modelId="{63F0B532-1AB3-4CEC-AEF0-429807D36B2B}" type="presParOf" srcId="{7CA1FB1F-4C8B-4A90-8CDC-DC935BCF44C5}" destId="{FE6A34A2-E77F-406D-A32C-F257CF6F42E1}" srcOrd="0" destOrd="0" presId="urn:microsoft.com/office/officeart/2018/2/layout/IconVerticalSolidList"/>
    <dgm:cxn modelId="{F288B0DA-7B5C-452C-9308-01F7A90F4CA6}" type="presParOf" srcId="{7CA1FB1F-4C8B-4A90-8CDC-DC935BCF44C5}" destId="{2DB13B18-C8DC-4D13-9648-8F61DAD4D294}" srcOrd="1" destOrd="0" presId="urn:microsoft.com/office/officeart/2018/2/layout/IconVerticalSolidList"/>
    <dgm:cxn modelId="{1A0F15FC-D46F-4B26-A70D-B3AAA67A51C7}" type="presParOf" srcId="{7CA1FB1F-4C8B-4A90-8CDC-DC935BCF44C5}" destId="{44F838E7-9EF6-4E2F-A2D2-5A6FCB0F985D}" srcOrd="2" destOrd="0" presId="urn:microsoft.com/office/officeart/2018/2/layout/IconVerticalSolidList"/>
    <dgm:cxn modelId="{18EAF451-475D-4FBE-BC22-86605ABEBC73}" type="presParOf" srcId="{7CA1FB1F-4C8B-4A90-8CDC-DC935BCF44C5}" destId="{1D4FFBAB-7DAD-439D-BD15-6D1B646EA0C6}" srcOrd="3" destOrd="0" presId="urn:microsoft.com/office/officeart/2018/2/layout/IconVerticalSolidList"/>
    <dgm:cxn modelId="{991E5B10-97D9-4DAF-909D-2181A0B597AB}" type="presParOf" srcId="{381CF078-0A2A-41C6-8002-78F67A3B44D1}" destId="{C8999100-A166-44EE-B43A-B2DA57D63941}" srcOrd="1" destOrd="0" presId="urn:microsoft.com/office/officeart/2018/2/layout/IconVerticalSolidList"/>
    <dgm:cxn modelId="{C3A9CBB9-B178-48A7-B6C2-CEC4E1EA90ED}" type="presParOf" srcId="{381CF078-0A2A-41C6-8002-78F67A3B44D1}" destId="{45722067-DE1E-4801-8621-D3DFE1F97E08}" srcOrd="2" destOrd="0" presId="urn:microsoft.com/office/officeart/2018/2/layout/IconVerticalSolidList"/>
    <dgm:cxn modelId="{5E6DDB57-849B-4ABE-81B1-1DB1D6F638E0}" type="presParOf" srcId="{45722067-DE1E-4801-8621-D3DFE1F97E08}" destId="{A0117D7C-8E7C-4B48-BAAB-56CAB4B03FCC}" srcOrd="0" destOrd="0" presId="urn:microsoft.com/office/officeart/2018/2/layout/IconVerticalSolidList"/>
    <dgm:cxn modelId="{7A947F0D-139D-48C8-ADC8-F85935224435}" type="presParOf" srcId="{45722067-DE1E-4801-8621-D3DFE1F97E08}" destId="{F887D852-9398-4B66-BAB1-41F11D238769}" srcOrd="1" destOrd="0" presId="urn:microsoft.com/office/officeart/2018/2/layout/IconVerticalSolidList"/>
    <dgm:cxn modelId="{7BF0F3B0-1FCE-4D67-BD3C-550B14BDC524}" type="presParOf" srcId="{45722067-DE1E-4801-8621-D3DFE1F97E08}" destId="{D283D53B-DE6C-4768-89FC-081AE125D54B}" srcOrd="2" destOrd="0" presId="urn:microsoft.com/office/officeart/2018/2/layout/IconVerticalSolidList"/>
    <dgm:cxn modelId="{D67D493A-31ED-4609-AE5E-C690D90542CE}" type="presParOf" srcId="{45722067-DE1E-4801-8621-D3DFE1F97E08}" destId="{A1E91B8A-ABAB-44DE-BFE2-276DE982F449}" srcOrd="3" destOrd="0" presId="urn:microsoft.com/office/officeart/2018/2/layout/IconVerticalSolidList"/>
    <dgm:cxn modelId="{2BF25944-237A-48DE-845C-50DC8A4FC7A0}" type="presParOf" srcId="{381CF078-0A2A-41C6-8002-78F67A3B44D1}" destId="{6AD138D4-CD07-4618-BED6-F4BADDB328D3}" srcOrd="3" destOrd="0" presId="urn:microsoft.com/office/officeart/2018/2/layout/IconVerticalSolidList"/>
    <dgm:cxn modelId="{C4F1BF33-08AE-452C-9703-9BE36CC5CF95}" type="presParOf" srcId="{381CF078-0A2A-41C6-8002-78F67A3B44D1}" destId="{F293681E-FA1C-44CF-B4B5-C4FA60BB84FB}" srcOrd="4" destOrd="0" presId="urn:microsoft.com/office/officeart/2018/2/layout/IconVerticalSolidList"/>
    <dgm:cxn modelId="{14943A4A-353E-45AE-A500-76377FFAD7AD}" type="presParOf" srcId="{F293681E-FA1C-44CF-B4B5-C4FA60BB84FB}" destId="{7C5838EF-37A7-42BA-9325-ED4D6A76D016}" srcOrd="0" destOrd="0" presId="urn:microsoft.com/office/officeart/2018/2/layout/IconVerticalSolidList"/>
    <dgm:cxn modelId="{4D0ECF6E-5744-409B-BB71-0B52E018041E}" type="presParOf" srcId="{F293681E-FA1C-44CF-B4B5-C4FA60BB84FB}" destId="{100F0064-CA5E-4DDD-B646-1633FEE350D1}" srcOrd="1" destOrd="0" presId="urn:microsoft.com/office/officeart/2018/2/layout/IconVerticalSolidList"/>
    <dgm:cxn modelId="{BB08C9B6-5263-4494-95DA-71B84130428B}" type="presParOf" srcId="{F293681E-FA1C-44CF-B4B5-C4FA60BB84FB}" destId="{4BC52E13-7CB2-4D6B-9C80-2BE7F986BDB0}" srcOrd="2" destOrd="0" presId="urn:microsoft.com/office/officeart/2018/2/layout/IconVerticalSolidList"/>
    <dgm:cxn modelId="{477CAF19-6124-4401-A9BD-B3A158B45AD8}" type="presParOf" srcId="{F293681E-FA1C-44CF-B4B5-C4FA60BB84FB}" destId="{EA9A7AE7-8087-4C1D-AE91-6DA1455600F7}" srcOrd="3" destOrd="0" presId="urn:microsoft.com/office/officeart/2018/2/layout/IconVerticalSolidList"/>
    <dgm:cxn modelId="{DEFC22E6-98B2-4D45-A81A-2BA71E4298EE}" type="presParOf" srcId="{381CF078-0A2A-41C6-8002-78F67A3B44D1}" destId="{A89E6312-6EEB-4DBC-82AA-086873C944F3}" srcOrd="5" destOrd="0" presId="urn:microsoft.com/office/officeart/2018/2/layout/IconVerticalSolidList"/>
    <dgm:cxn modelId="{0DE905EA-26AD-4FFD-9719-FDAF7F48696B}" type="presParOf" srcId="{381CF078-0A2A-41C6-8002-78F67A3B44D1}" destId="{0126317B-EBC2-4C21-BB8B-C8327CDC9C49}" srcOrd="6" destOrd="0" presId="urn:microsoft.com/office/officeart/2018/2/layout/IconVerticalSolidList"/>
    <dgm:cxn modelId="{607C8FF4-B566-4591-9DCF-F3D5AA9509B2}" type="presParOf" srcId="{0126317B-EBC2-4C21-BB8B-C8327CDC9C49}" destId="{66EDB16D-BC8F-41DE-8EF7-B8D4D2BC938F}" srcOrd="0" destOrd="0" presId="urn:microsoft.com/office/officeart/2018/2/layout/IconVerticalSolidList"/>
    <dgm:cxn modelId="{DB8972BB-6567-43BB-B34E-8FAF58C4BD65}" type="presParOf" srcId="{0126317B-EBC2-4C21-BB8B-C8327CDC9C49}" destId="{871B7986-945C-4730-A16D-E77B440C9EF1}" srcOrd="1" destOrd="0" presId="urn:microsoft.com/office/officeart/2018/2/layout/IconVerticalSolidList"/>
    <dgm:cxn modelId="{B26913B3-A839-4519-B66F-D705AF7329E2}" type="presParOf" srcId="{0126317B-EBC2-4C21-BB8B-C8327CDC9C49}" destId="{8898BC52-4ABF-4944-9DFB-F2949D752F53}" srcOrd="2" destOrd="0" presId="urn:microsoft.com/office/officeart/2018/2/layout/IconVerticalSolidList"/>
    <dgm:cxn modelId="{50E8AC33-5C07-44E5-B731-7FF00E2AF870}" type="presParOf" srcId="{0126317B-EBC2-4C21-BB8B-C8327CDC9C49}" destId="{B670AA64-2652-4BCE-8273-157FB564F650}" srcOrd="3" destOrd="0" presId="urn:microsoft.com/office/officeart/2018/2/layout/IconVerticalSolidList"/>
    <dgm:cxn modelId="{BFBB538D-9634-4A1F-96D2-10E2076444EB}" type="presParOf" srcId="{381CF078-0A2A-41C6-8002-78F67A3B44D1}" destId="{5A92AE94-DCC5-4546-BFD5-740C1A648C1F}" srcOrd="7" destOrd="0" presId="urn:microsoft.com/office/officeart/2018/2/layout/IconVerticalSolidList"/>
    <dgm:cxn modelId="{76098C48-E0B5-48F8-B77C-ECF7E8DC452B}" type="presParOf" srcId="{381CF078-0A2A-41C6-8002-78F67A3B44D1}" destId="{0030F9FC-62C0-41FA-BD77-FF4FC2AB4446}" srcOrd="8" destOrd="0" presId="urn:microsoft.com/office/officeart/2018/2/layout/IconVerticalSolidList"/>
    <dgm:cxn modelId="{E7EB2519-D3CE-487F-A145-C720D562D06A}" type="presParOf" srcId="{0030F9FC-62C0-41FA-BD77-FF4FC2AB4446}" destId="{ED808242-01B8-448C-82D3-CF1FD91994EB}" srcOrd="0" destOrd="0" presId="urn:microsoft.com/office/officeart/2018/2/layout/IconVerticalSolidList"/>
    <dgm:cxn modelId="{33B587BB-4B9C-4D31-B0EE-5D0E2603D625}" type="presParOf" srcId="{0030F9FC-62C0-41FA-BD77-FF4FC2AB4446}" destId="{D47B17AE-66A8-401F-AB3A-308CF3D62AF4}" srcOrd="1" destOrd="0" presId="urn:microsoft.com/office/officeart/2018/2/layout/IconVerticalSolidList"/>
    <dgm:cxn modelId="{07DE27F8-7155-4FF3-95FA-F0A7A4514AFD}" type="presParOf" srcId="{0030F9FC-62C0-41FA-BD77-FF4FC2AB4446}" destId="{D722D1AD-CB39-4197-8B0D-D0BC439E4E41}" srcOrd="2" destOrd="0" presId="urn:microsoft.com/office/officeart/2018/2/layout/IconVerticalSolidList"/>
    <dgm:cxn modelId="{AF8DCF54-E3BB-405E-A703-821686E92E3A}" type="presParOf" srcId="{0030F9FC-62C0-41FA-BD77-FF4FC2AB4446}" destId="{2E41C238-08CD-4CD8-8359-F921D2F49B9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86EB88-C8B0-4E82-9B11-2CF7CFC40F5F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8A8B924-02CB-47AD-9294-82D22FE9D698}">
      <dgm:prSet/>
      <dgm:spPr/>
      <dgm:t>
        <a:bodyPr/>
        <a:lstStyle/>
        <a:p>
          <a:r>
            <a:rPr lang="en-US" b="1"/>
            <a:t>Salary</a:t>
          </a:r>
          <a:endParaRPr lang="en-US"/>
        </a:p>
      </dgm:t>
    </dgm:pt>
    <dgm:pt modelId="{714439C8-555D-4134-8580-AD264AADEE15}" type="parTrans" cxnId="{789E6711-6A8B-438C-B8D4-7959ED15C676}">
      <dgm:prSet/>
      <dgm:spPr/>
      <dgm:t>
        <a:bodyPr/>
        <a:lstStyle/>
        <a:p>
          <a:endParaRPr lang="en-US"/>
        </a:p>
      </dgm:t>
    </dgm:pt>
    <dgm:pt modelId="{CDD135EC-7D22-416B-8E12-933ABDEE48D6}" type="sibTrans" cxnId="{789E6711-6A8B-438C-B8D4-7959ED15C676}">
      <dgm:prSet/>
      <dgm:spPr/>
      <dgm:t>
        <a:bodyPr/>
        <a:lstStyle/>
        <a:p>
          <a:endParaRPr lang="en-US"/>
        </a:p>
      </dgm:t>
    </dgm:pt>
    <dgm:pt modelId="{20BFF1E8-5806-4A8B-BFCC-98A9110F78DD}">
      <dgm:prSet/>
      <dgm:spPr/>
      <dgm:t>
        <a:bodyPr/>
        <a:lstStyle/>
        <a:p>
          <a:r>
            <a:rPr lang="en-US"/>
            <a:t>Tech roles (Software Engineer, Data Engineer) pay the most</a:t>
          </a:r>
        </a:p>
      </dgm:t>
    </dgm:pt>
    <dgm:pt modelId="{9360CA8F-BF99-482D-8F30-DE9DCF14C715}" type="parTrans" cxnId="{6E595840-AB6F-45AD-82B6-585150F44EC4}">
      <dgm:prSet/>
      <dgm:spPr/>
      <dgm:t>
        <a:bodyPr/>
        <a:lstStyle/>
        <a:p>
          <a:endParaRPr lang="en-US"/>
        </a:p>
      </dgm:t>
    </dgm:pt>
    <dgm:pt modelId="{D504BB59-B924-48BC-8218-4AD754AD9489}" type="sibTrans" cxnId="{6E595840-AB6F-45AD-82B6-585150F44EC4}">
      <dgm:prSet/>
      <dgm:spPr/>
      <dgm:t>
        <a:bodyPr/>
        <a:lstStyle/>
        <a:p>
          <a:endParaRPr lang="en-US"/>
        </a:p>
      </dgm:t>
    </dgm:pt>
    <dgm:pt modelId="{E859FC9D-A4EC-41C6-9F18-6A60E1720E7C}">
      <dgm:prSet/>
      <dgm:spPr/>
      <dgm:t>
        <a:bodyPr/>
        <a:lstStyle/>
        <a:p>
          <a:r>
            <a:rPr lang="en-US"/>
            <a:t>Senior roles (Executive, Director) also high</a:t>
          </a:r>
        </a:p>
      </dgm:t>
    </dgm:pt>
    <dgm:pt modelId="{68FA90B1-DE53-45CF-8063-5F3A77B7781B}" type="parTrans" cxnId="{58CCA5BD-B1E3-4155-B81F-DE0CCEC79B6F}">
      <dgm:prSet/>
      <dgm:spPr/>
      <dgm:t>
        <a:bodyPr/>
        <a:lstStyle/>
        <a:p>
          <a:endParaRPr lang="en-US"/>
        </a:p>
      </dgm:t>
    </dgm:pt>
    <dgm:pt modelId="{92E91636-776B-4C42-9CE1-B1B44E3FEE17}" type="sibTrans" cxnId="{58CCA5BD-B1E3-4155-B81F-DE0CCEC79B6F}">
      <dgm:prSet/>
      <dgm:spPr/>
      <dgm:t>
        <a:bodyPr/>
        <a:lstStyle/>
        <a:p>
          <a:endParaRPr lang="en-US"/>
        </a:p>
      </dgm:t>
    </dgm:pt>
    <dgm:pt modelId="{88DC088A-2801-41E8-A2D9-624A0E1DEE29}">
      <dgm:prSet/>
      <dgm:spPr/>
      <dgm:t>
        <a:bodyPr/>
        <a:lstStyle/>
        <a:p>
          <a:r>
            <a:rPr lang="en-US"/>
            <a:t>Entry-level/support roles pay less</a:t>
          </a:r>
        </a:p>
      </dgm:t>
    </dgm:pt>
    <dgm:pt modelId="{CD67278C-27C0-42BD-86D3-B1E98ECCAB4C}" type="parTrans" cxnId="{E74C0ED4-E85C-47A7-A2AD-58EB1885B11D}">
      <dgm:prSet/>
      <dgm:spPr/>
      <dgm:t>
        <a:bodyPr/>
        <a:lstStyle/>
        <a:p>
          <a:endParaRPr lang="en-US"/>
        </a:p>
      </dgm:t>
    </dgm:pt>
    <dgm:pt modelId="{B03401FB-8C61-4654-9CC0-B53C7D4DACA6}" type="sibTrans" cxnId="{E74C0ED4-E85C-47A7-A2AD-58EB1885B11D}">
      <dgm:prSet/>
      <dgm:spPr/>
      <dgm:t>
        <a:bodyPr/>
        <a:lstStyle/>
        <a:p>
          <a:endParaRPr lang="en-US"/>
        </a:p>
      </dgm:t>
    </dgm:pt>
    <dgm:pt modelId="{4F667DF3-C58D-4F56-B316-EABEB9D395F1}">
      <dgm:prSet/>
      <dgm:spPr/>
      <dgm:t>
        <a:bodyPr/>
        <a:lstStyle/>
        <a:p>
          <a:r>
            <a:rPr lang="en-US" b="1"/>
            <a:t>Applications</a:t>
          </a:r>
          <a:endParaRPr lang="en-US"/>
        </a:p>
      </dgm:t>
    </dgm:pt>
    <dgm:pt modelId="{E0183D71-058C-46CC-BD58-BA6A4BBE7E1B}" type="parTrans" cxnId="{41C0CD03-03E8-444E-B92A-C0217DF45E58}">
      <dgm:prSet/>
      <dgm:spPr/>
      <dgm:t>
        <a:bodyPr/>
        <a:lstStyle/>
        <a:p>
          <a:endParaRPr lang="en-US"/>
        </a:p>
      </dgm:t>
    </dgm:pt>
    <dgm:pt modelId="{2AF4241F-5052-4C6B-AC0C-BD8F24A20200}" type="sibTrans" cxnId="{41C0CD03-03E8-444E-B92A-C0217DF45E58}">
      <dgm:prSet/>
      <dgm:spPr/>
      <dgm:t>
        <a:bodyPr/>
        <a:lstStyle/>
        <a:p>
          <a:endParaRPr lang="en-US"/>
        </a:p>
      </dgm:t>
    </dgm:pt>
    <dgm:pt modelId="{CAF46FF1-367B-4195-907D-E384C8D382F8}">
      <dgm:prSet/>
      <dgm:spPr/>
      <dgm:t>
        <a:bodyPr/>
        <a:lstStyle/>
        <a:p>
          <a:r>
            <a:rPr lang="en-US"/>
            <a:t>Data Analyst gets the most, followed by Software Engineer</a:t>
          </a:r>
        </a:p>
      </dgm:t>
    </dgm:pt>
    <dgm:pt modelId="{D00A2584-3ADA-4D1A-9573-D94A1A676174}" type="parTrans" cxnId="{FE7C76CB-41D7-493E-95F2-4E29C4B4A423}">
      <dgm:prSet/>
      <dgm:spPr/>
      <dgm:t>
        <a:bodyPr/>
        <a:lstStyle/>
        <a:p>
          <a:endParaRPr lang="en-US"/>
        </a:p>
      </dgm:t>
    </dgm:pt>
    <dgm:pt modelId="{13952BD6-B46D-440A-BADE-3E8DC366D4A7}" type="sibTrans" cxnId="{FE7C76CB-41D7-493E-95F2-4E29C4B4A423}">
      <dgm:prSet/>
      <dgm:spPr/>
      <dgm:t>
        <a:bodyPr/>
        <a:lstStyle/>
        <a:p>
          <a:endParaRPr lang="en-US"/>
        </a:p>
      </dgm:t>
    </dgm:pt>
    <dgm:pt modelId="{80D6EC35-052F-423F-B199-9BD32C118C97}">
      <dgm:prSet/>
      <dgm:spPr/>
      <dgm:t>
        <a:bodyPr/>
        <a:lstStyle/>
        <a:p>
          <a:r>
            <a:rPr lang="en-US"/>
            <a:t>Lower-paying or highly specialized jobs attract fewer applicants</a:t>
          </a:r>
        </a:p>
      </dgm:t>
    </dgm:pt>
    <dgm:pt modelId="{0807DCC7-1F1F-47A0-B874-A65C29D0C6EE}" type="parTrans" cxnId="{93A25A26-C509-461E-B04C-B985DC1F0916}">
      <dgm:prSet/>
      <dgm:spPr/>
      <dgm:t>
        <a:bodyPr/>
        <a:lstStyle/>
        <a:p>
          <a:endParaRPr lang="en-US"/>
        </a:p>
      </dgm:t>
    </dgm:pt>
    <dgm:pt modelId="{44D2BDC2-9738-4359-B179-A781D6BA1590}" type="sibTrans" cxnId="{93A25A26-C509-461E-B04C-B985DC1F0916}">
      <dgm:prSet/>
      <dgm:spPr/>
      <dgm:t>
        <a:bodyPr/>
        <a:lstStyle/>
        <a:p>
          <a:endParaRPr lang="en-US"/>
        </a:p>
      </dgm:t>
    </dgm:pt>
    <dgm:pt modelId="{A4EE9027-2EDE-4902-9E0B-CDE0F1A86326}">
      <dgm:prSet/>
      <dgm:spPr/>
      <dgm:t>
        <a:bodyPr/>
        <a:lstStyle/>
        <a:p>
          <a:r>
            <a:rPr lang="en-US" b="1"/>
            <a:t>Views vs Applications</a:t>
          </a:r>
          <a:endParaRPr lang="en-US"/>
        </a:p>
      </dgm:t>
    </dgm:pt>
    <dgm:pt modelId="{D585A8E6-834B-4983-AB64-740A915F345D}" type="parTrans" cxnId="{F83C980E-E542-4C7B-A04F-D7D3E03092EB}">
      <dgm:prSet/>
      <dgm:spPr/>
      <dgm:t>
        <a:bodyPr/>
        <a:lstStyle/>
        <a:p>
          <a:endParaRPr lang="en-US"/>
        </a:p>
      </dgm:t>
    </dgm:pt>
    <dgm:pt modelId="{AA85FE8C-09B1-4414-8C01-546A2A35059E}" type="sibTrans" cxnId="{F83C980E-E542-4C7B-A04F-D7D3E03092EB}">
      <dgm:prSet/>
      <dgm:spPr/>
      <dgm:t>
        <a:bodyPr/>
        <a:lstStyle/>
        <a:p>
          <a:endParaRPr lang="en-US"/>
        </a:p>
      </dgm:t>
    </dgm:pt>
    <dgm:pt modelId="{2169F557-8A53-418A-9A09-3C30ADBACD45}">
      <dgm:prSet/>
      <dgm:spPr/>
      <dgm:t>
        <a:bodyPr/>
        <a:lstStyle/>
        <a:p>
          <a:r>
            <a:rPr lang="en-US"/>
            <a:t>Jobs are viewed more than applied to</a:t>
          </a:r>
        </a:p>
      </dgm:t>
    </dgm:pt>
    <dgm:pt modelId="{56A739B2-AB0E-4ABF-A7C1-B65250B168C1}" type="parTrans" cxnId="{23E80853-CFB6-4661-8A46-5DCE6078ECB9}">
      <dgm:prSet/>
      <dgm:spPr/>
      <dgm:t>
        <a:bodyPr/>
        <a:lstStyle/>
        <a:p>
          <a:endParaRPr lang="en-US"/>
        </a:p>
      </dgm:t>
    </dgm:pt>
    <dgm:pt modelId="{799BC40C-1162-4E67-BC91-83CE9C1E724F}" type="sibTrans" cxnId="{23E80853-CFB6-4661-8A46-5DCE6078ECB9}">
      <dgm:prSet/>
      <dgm:spPr/>
      <dgm:t>
        <a:bodyPr/>
        <a:lstStyle/>
        <a:p>
          <a:endParaRPr lang="en-US"/>
        </a:p>
      </dgm:t>
    </dgm:pt>
    <dgm:pt modelId="{ABAD79D1-5984-4EFB-929C-FC1948B1A04C}">
      <dgm:prSet/>
      <dgm:spPr/>
      <dgm:t>
        <a:bodyPr/>
        <a:lstStyle/>
        <a:p>
          <a:r>
            <a:rPr lang="en-US"/>
            <a:t>High-paying jobs get attention but fewer applications (strict requirements)</a:t>
          </a:r>
        </a:p>
      </dgm:t>
    </dgm:pt>
    <dgm:pt modelId="{19B85CE5-E504-45DF-B688-4524B19487A4}" type="parTrans" cxnId="{8F47EEA4-E585-44F1-9E53-F3EC550330C0}">
      <dgm:prSet/>
      <dgm:spPr/>
      <dgm:t>
        <a:bodyPr/>
        <a:lstStyle/>
        <a:p>
          <a:endParaRPr lang="en-US"/>
        </a:p>
      </dgm:t>
    </dgm:pt>
    <dgm:pt modelId="{F72F244F-F4FA-436D-86D4-6D4FB4E95094}" type="sibTrans" cxnId="{8F47EEA4-E585-44F1-9E53-F3EC550330C0}">
      <dgm:prSet/>
      <dgm:spPr/>
      <dgm:t>
        <a:bodyPr/>
        <a:lstStyle/>
        <a:p>
          <a:endParaRPr lang="en-US"/>
        </a:p>
      </dgm:t>
    </dgm:pt>
    <dgm:pt modelId="{22845039-9C6A-49BE-B6D1-D883A1FD455B}">
      <dgm:prSet/>
      <dgm:spPr/>
      <dgm:t>
        <a:bodyPr/>
        <a:lstStyle/>
        <a:p>
          <a:r>
            <a:rPr lang="en-US" b="1"/>
            <a:t>Salary vs Applications</a:t>
          </a:r>
          <a:endParaRPr lang="en-US"/>
        </a:p>
      </dgm:t>
    </dgm:pt>
    <dgm:pt modelId="{E8626680-4896-45A5-956C-BE5E4A39CC77}" type="parTrans" cxnId="{7C468C83-9E53-40CE-AC06-B51BD539ACAC}">
      <dgm:prSet/>
      <dgm:spPr/>
      <dgm:t>
        <a:bodyPr/>
        <a:lstStyle/>
        <a:p>
          <a:endParaRPr lang="en-US"/>
        </a:p>
      </dgm:t>
    </dgm:pt>
    <dgm:pt modelId="{79916757-20E1-430F-8721-75D71A7F11AA}" type="sibTrans" cxnId="{7C468C83-9E53-40CE-AC06-B51BD539ACAC}">
      <dgm:prSet/>
      <dgm:spPr/>
      <dgm:t>
        <a:bodyPr/>
        <a:lstStyle/>
        <a:p>
          <a:endParaRPr lang="en-US"/>
        </a:p>
      </dgm:t>
    </dgm:pt>
    <dgm:pt modelId="{D57C49A3-337B-446B-8B0C-F18993E1B01D}">
      <dgm:prSet/>
      <dgm:spPr/>
      <dgm:t>
        <a:bodyPr/>
        <a:lstStyle/>
        <a:p>
          <a:r>
            <a:rPr lang="en-US"/>
            <a:t>Higher pay ≠ more applications</a:t>
          </a:r>
        </a:p>
      </dgm:t>
    </dgm:pt>
    <dgm:pt modelId="{F5200420-1891-4EFB-AB36-0EBEDB876C91}" type="parTrans" cxnId="{B9061461-C3AD-4FDA-9952-548BC860A907}">
      <dgm:prSet/>
      <dgm:spPr/>
      <dgm:t>
        <a:bodyPr/>
        <a:lstStyle/>
        <a:p>
          <a:endParaRPr lang="en-US"/>
        </a:p>
      </dgm:t>
    </dgm:pt>
    <dgm:pt modelId="{5047D1DA-5A5C-4008-AD52-77C4C93B567F}" type="sibTrans" cxnId="{B9061461-C3AD-4FDA-9952-548BC860A907}">
      <dgm:prSet/>
      <dgm:spPr/>
      <dgm:t>
        <a:bodyPr/>
        <a:lstStyle/>
        <a:p>
          <a:endParaRPr lang="en-US"/>
        </a:p>
      </dgm:t>
    </dgm:pt>
    <dgm:pt modelId="{A2208549-CFAA-40BE-9CB3-246D65533AD1}">
      <dgm:prSet/>
      <dgm:spPr/>
      <dgm:t>
        <a:bodyPr/>
        <a:lstStyle/>
        <a:p>
          <a:r>
            <a:rPr lang="en-US"/>
            <a:t>Mid-range jobs attract the most applicants (accessible + decent pay)</a:t>
          </a:r>
        </a:p>
      </dgm:t>
    </dgm:pt>
    <dgm:pt modelId="{F862D166-5ABF-4631-BB40-9A01C98E390F}" type="parTrans" cxnId="{5769F3CB-8B11-4922-8016-03D822FCBCB5}">
      <dgm:prSet/>
      <dgm:spPr/>
      <dgm:t>
        <a:bodyPr/>
        <a:lstStyle/>
        <a:p>
          <a:endParaRPr lang="en-US"/>
        </a:p>
      </dgm:t>
    </dgm:pt>
    <dgm:pt modelId="{B8AF4802-5ED6-49A7-B79A-FC38D5066404}" type="sibTrans" cxnId="{5769F3CB-8B11-4922-8016-03D822FCBCB5}">
      <dgm:prSet/>
      <dgm:spPr/>
      <dgm:t>
        <a:bodyPr/>
        <a:lstStyle/>
        <a:p>
          <a:endParaRPr lang="en-US"/>
        </a:p>
      </dgm:t>
    </dgm:pt>
    <dgm:pt modelId="{1D0AA737-BEA6-429A-A023-ABA23C30D39F}">
      <dgm:prSet/>
      <dgm:spPr/>
      <dgm:t>
        <a:bodyPr/>
        <a:lstStyle/>
        <a:p>
          <a:r>
            <a:rPr lang="en-US" b="1"/>
            <a:t>Overall Insight</a:t>
          </a:r>
          <a:endParaRPr lang="en-US"/>
        </a:p>
      </dgm:t>
    </dgm:pt>
    <dgm:pt modelId="{BB814BF3-0CA0-41C5-A717-74DF8006B419}" type="parTrans" cxnId="{8F1A62D8-EB38-4D3D-B5E6-9398FD30DD59}">
      <dgm:prSet/>
      <dgm:spPr/>
      <dgm:t>
        <a:bodyPr/>
        <a:lstStyle/>
        <a:p>
          <a:endParaRPr lang="en-US"/>
        </a:p>
      </dgm:t>
    </dgm:pt>
    <dgm:pt modelId="{20DBD906-158E-4E74-8AC2-879451474786}" type="sibTrans" cxnId="{8F1A62D8-EB38-4D3D-B5E6-9398FD30DD59}">
      <dgm:prSet/>
      <dgm:spPr/>
      <dgm:t>
        <a:bodyPr/>
        <a:lstStyle/>
        <a:p>
          <a:endParaRPr lang="en-US"/>
        </a:p>
      </dgm:t>
    </dgm:pt>
    <dgm:pt modelId="{A77542FD-9D44-4923-836B-34F40EC920EE}">
      <dgm:prSet/>
      <dgm:spPr/>
      <dgm:t>
        <a:bodyPr/>
        <a:lstStyle/>
        <a:p>
          <a:r>
            <a:rPr lang="en-US"/>
            <a:t>Salary, visibility, and job type all shape applicant behavior</a:t>
          </a:r>
        </a:p>
      </dgm:t>
    </dgm:pt>
    <dgm:pt modelId="{3C4F7186-E186-4C7E-8B59-3B3E65ECE252}" type="parTrans" cxnId="{629CEBFE-75E2-41E6-9352-6522FD919E52}">
      <dgm:prSet/>
      <dgm:spPr/>
      <dgm:t>
        <a:bodyPr/>
        <a:lstStyle/>
        <a:p>
          <a:endParaRPr lang="en-US"/>
        </a:p>
      </dgm:t>
    </dgm:pt>
    <dgm:pt modelId="{32B559C1-E2AD-4AFB-A5C9-9D0BCDD55CB8}" type="sibTrans" cxnId="{629CEBFE-75E2-41E6-9352-6522FD919E52}">
      <dgm:prSet/>
      <dgm:spPr/>
      <dgm:t>
        <a:bodyPr/>
        <a:lstStyle/>
        <a:p>
          <a:endParaRPr lang="en-US"/>
        </a:p>
      </dgm:t>
    </dgm:pt>
    <dgm:pt modelId="{EE07A51F-CD2D-4E3F-9850-A2AEC901499D}">
      <dgm:prSet/>
      <dgm:spPr/>
      <dgm:t>
        <a:bodyPr/>
        <a:lstStyle/>
        <a:p>
          <a:r>
            <a:rPr lang="en-US"/>
            <a:t>High pay draws interest but not always applications</a:t>
          </a:r>
        </a:p>
      </dgm:t>
    </dgm:pt>
    <dgm:pt modelId="{66BF8C39-56B4-45CF-8327-260B92B8ABBB}" type="parTrans" cxnId="{230283B1-72B3-4CFE-94CB-DA31B97A3F6F}">
      <dgm:prSet/>
      <dgm:spPr/>
      <dgm:t>
        <a:bodyPr/>
        <a:lstStyle/>
        <a:p>
          <a:endParaRPr lang="en-US"/>
        </a:p>
      </dgm:t>
    </dgm:pt>
    <dgm:pt modelId="{0DBEF4B7-8915-40FD-B583-006926E2E16D}" type="sibTrans" cxnId="{230283B1-72B3-4CFE-94CB-DA31B97A3F6F}">
      <dgm:prSet/>
      <dgm:spPr/>
      <dgm:t>
        <a:bodyPr/>
        <a:lstStyle/>
        <a:p>
          <a:endParaRPr lang="en-US"/>
        </a:p>
      </dgm:t>
    </dgm:pt>
    <dgm:pt modelId="{A1F4EE1E-2DBE-414C-8996-2AC19D2556B3}">
      <dgm:prSet/>
      <dgm:spPr/>
      <dgm:t>
        <a:bodyPr/>
        <a:lstStyle/>
        <a:p>
          <a:r>
            <a:rPr lang="en-US"/>
            <a:t>Mid-range roles generate most applications</a:t>
          </a:r>
        </a:p>
      </dgm:t>
    </dgm:pt>
    <dgm:pt modelId="{6B57D385-ED96-4E30-9E7B-305029A13A5E}" type="parTrans" cxnId="{1537C254-1B7E-4BE8-85FA-EA27DA29857C}">
      <dgm:prSet/>
      <dgm:spPr/>
      <dgm:t>
        <a:bodyPr/>
        <a:lstStyle/>
        <a:p>
          <a:endParaRPr lang="en-US"/>
        </a:p>
      </dgm:t>
    </dgm:pt>
    <dgm:pt modelId="{C8E10FAB-F33A-491C-80A0-4578FE52AE3C}" type="sibTrans" cxnId="{1537C254-1B7E-4BE8-85FA-EA27DA29857C}">
      <dgm:prSet/>
      <dgm:spPr/>
      <dgm:t>
        <a:bodyPr/>
        <a:lstStyle/>
        <a:p>
          <a:endParaRPr lang="en-US"/>
        </a:p>
      </dgm:t>
    </dgm:pt>
    <dgm:pt modelId="{6E18C0D4-31E3-4298-B3FC-F54C33B5CF79}">
      <dgm:prSet/>
      <dgm:spPr/>
      <dgm:t>
        <a:bodyPr/>
        <a:lstStyle/>
        <a:p>
          <a:r>
            <a:rPr lang="en-US"/>
            <a:t>Visibility shows interest, but applications depend on role accessibility</a:t>
          </a:r>
        </a:p>
      </dgm:t>
    </dgm:pt>
    <dgm:pt modelId="{DD554730-B5F4-4D43-A454-5BC39CEAB6D5}" type="parTrans" cxnId="{4620519A-8D1D-4C13-90E8-9D74708566BE}">
      <dgm:prSet/>
      <dgm:spPr/>
      <dgm:t>
        <a:bodyPr/>
        <a:lstStyle/>
        <a:p>
          <a:endParaRPr lang="en-US"/>
        </a:p>
      </dgm:t>
    </dgm:pt>
    <dgm:pt modelId="{D83C9BF9-6E8F-4814-BA5C-95142FF0DE11}" type="sibTrans" cxnId="{4620519A-8D1D-4C13-90E8-9D74708566BE}">
      <dgm:prSet/>
      <dgm:spPr/>
      <dgm:t>
        <a:bodyPr/>
        <a:lstStyle/>
        <a:p>
          <a:endParaRPr lang="en-US"/>
        </a:p>
      </dgm:t>
    </dgm:pt>
    <dgm:pt modelId="{3F05074B-03DD-44BC-9A35-100A18463F99}" type="pres">
      <dgm:prSet presAssocID="{1286EB88-C8B0-4E82-9B11-2CF7CFC40F5F}" presName="Name0" presStyleCnt="0">
        <dgm:presLayoutVars>
          <dgm:dir/>
          <dgm:animLvl val="lvl"/>
          <dgm:resizeHandles val="exact"/>
        </dgm:presLayoutVars>
      </dgm:prSet>
      <dgm:spPr/>
    </dgm:pt>
    <dgm:pt modelId="{D91655D7-C2C9-423A-862C-E98882590B1E}" type="pres">
      <dgm:prSet presAssocID="{38A8B924-02CB-47AD-9294-82D22FE9D698}" presName="composite" presStyleCnt="0"/>
      <dgm:spPr/>
    </dgm:pt>
    <dgm:pt modelId="{CA9D2D72-C0B4-47AC-BCA8-0285B559CEED}" type="pres">
      <dgm:prSet presAssocID="{38A8B924-02CB-47AD-9294-82D22FE9D698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8E111CB1-3383-4E6E-8CC3-356A6B2B8E79}" type="pres">
      <dgm:prSet presAssocID="{38A8B924-02CB-47AD-9294-82D22FE9D698}" presName="desTx" presStyleLbl="alignAccFollowNode1" presStyleIdx="0" presStyleCnt="5">
        <dgm:presLayoutVars>
          <dgm:bulletEnabled val="1"/>
        </dgm:presLayoutVars>
      </dgm:prSet>
      <dgm:spPr/>
    </dgm:pt>
    <dgm:pt modelId="{A5A9A27A-7338-428F-9472-28E5EE26B75F}" type="pres">
      <dgm:prSet presAssocID="{CDD135EC-7D22-416B-8E12-933ABDEE48D6}" presName="space" presStyleCnt="0"/>
      <dgm:spPr/>
    </dgm:pt>
    <dgm:pt modelId="{20D4BBD7-428E-4A68-90F4-BC40D0AA9EE9}" type="pres">
      <dgm:prSet presAssocID="{4F667DF3-C58D-4F56-B316-EABEB9D395F1}" presName="composite" presStyleCnt="0"/>
      <dgm:spPr/>
    </dgm:pt>
    <dgm:pt modelId="{0A6BAD59-3064-41DF-990F-3839C2CD253A}" type="pres">
      <dgm:prSet presAssocID="{4F667DF3-C58D-4F56-B316-EABEB9D395F1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37347047-C5CB-482A-8D28-2F9316BF41AC}" type="pres">
      <dgm:prSet presAssocID="{4F667DF3-C58D-4F56-B316-EABEB9D395F1}" presName="desTx" presStyleLbl="alignAccFollowNode1" presStyleIdx="1" presStyleCnt="5">
        <dgm:presLayoutVars>
          <dgm:bulletEnabled val="1"/>
        </dgm:presLayoutVars>
      </dgm:prSet>
      <dgm:spPr/>
    </dgm:pt>
    <dgm:pt modelId="{FBD6C040-5373-4202-B921-11F662C22279}" type="pres">
      <dgm:prSet presAssocID="{2AF4241F-5052-4C6B-AC0C-BD8F24A20200}" presName="space" presStyleCnt="0"/>
      <dgm:spPr/>
    </dgm:pt>
    <dgm:pt modelId="{25BD366D-A140-4F50-A075-E81C42765804}" type="pres">
      <dgm:prSet presAssocID="{A4EE9027-2EDE-4902-9E0B-CDE0F1A86326}" presName="composite" presStyleCnt="0"/>
      <dgm:spPr/>
    </dgm:pt>
    <dgm:pt modelId="{17C03E92-2DFF-450D-B174-5931CE672558}" type="pres">
      <dgm:prSet presAssocID="{A4EE9027-2EDE-4902-9E0B-CDE0F1A86326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9749252F-E89D-43AE-B270-4EE9A4B75586}" type="pres">
      <dgm:prSet presAssocID="{A4EE9027-2EDE-4902-9E0B-CDE0F1A86326}" presName="desTx" presStyleLbl="alignAccFollowNode1" presStyleIdx="2" presStyleCnt="5">
        <dgm:presLayoutVars>
          <dgm:bulletEnabled val="1"/>
        </dgm:presLayoutVars>
      </dgm:prSet>
      <dgm:spPr/>
    </dgm:pt>
    <dgm:pt modelId="{7038C438-993F-4747-80F5-BCD819729A2F}" type="pres">
      <dgm:prSet presAssocID="{AA85FE8C-09B1-4414-8C01-546A2A35059E}" presName="space" presStyleCnt="0"/>
      <dgm:spPr/>
    </dgm:pt>
    <dgm:pt modelId="{56262666-8804-4AE6-816D-191BC1E7EBC4}" type="pres">
      <dgm:prSet presAssocID="{22845039-9C6A-49BE-B6D1-D883A1FD455B}" presName="composite" presStyleCnt="0"/>
      <dgm:spPr/>
    </dgm:pt>
    <dgm:pt modelId="{B94A5EE1-0373-4B0C-A285-6E8A2E865207}" type="pres">
      <dgm:prSet presAssocID="{22845039-9C6A-49BE-B6D1-D883A1FD455B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9DFC8E5E-5D90-418C-8B87-FD020B1B47E9}" type="pres">
      <dgm:prSet presAssocID="{22845039-9C6A-49BE-B6D1-D883A1FD455B}" presName="desTx" presStyleLbl="alignAccFollowNode1" presStyleIdx="3" presStyleCnt="5">
        <dgm:presLayoutVars>
          <dgm:bulletEnabled val="1"/>
        </dgm:presLayoutVars>
      </dgm:prSet>
      <dgm:spPr/>
    </dgm:pt>
    <dgm:pt modelId="{796CEBD6-A7B5-4A9D-ACFD-A8D13759F0D1}" type="pres">
      <dgm:prSet presAssocID="{79916757-20E1-430F-8721-75D71A7F11AA}" presName="space" presStyleCnt="0"/>
      <dgm:spPr/>
    </dgm:pt>
    <dgm:pt modelId="{7F6C6A71-8129-4C90-8A92-DF3356F6A68F}" type="pres">
      <dgm:prSet presAssocID="{1D0AA737-BEA6-429A-A023-ABA23C30D39F}" presName="composite" presStyleCnt="0"/>
      <dgm:spPr/>
    </dgm:pt>
    <dgm:pt modelId="{3304EB33-16D4-43FF-8E98-7DF36CF72487}" type="pres">
      <dgm:prSet presAssocID="{1D0AA737-BEA6-429A-A023-ABA23C30D39F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FC437C5A-D11B-44D9-A2AA-EFF12355B1F3}" type="pres">
      <dgm:prSet presAssocID="{1D0AA737-BEA6-429A-A023-ABA23C30D39F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41C0CD03-03E8-444E-B92A-C0217DF45E58}" srcId="{1286EB88-C8B0-4E82-9B11-2CF7CFC40F5F}" destId="{4F667DF3-C58D-4F56-B316-EABEB9D395F1}" srcOrd="1" destOrd="0" parTransId="{E0183D71-058C-46CC-BD58-BA6A4BBE7E1B}" sibTransId="{2AF4241F-5052-4C6B-AC0C-BD8F24A20200}"/>
    <dgm:cxn modelId="{B41EB305-E5FA-42A3-B645-0F115EC04729}" type="presOf" srcId="{E859FC9D-A4EC-41C6-9F18-6A60E1720E7C}" destId="{8E111CB1-3383-4E6E-8CC3-356A6B2B8E79}" srcOrd="0" destOrd="1" presId="urn:microsoft.com/office/officeart/2005/8/layout/hList1"/>
    <dgm:cxn modelId="{F83C980E-E542-4C7B-A04F-D7D3E03092EB}" srcId="{1286EB88-C8B0-4E82-9B11-2CF7CFC40F5F}" destId="{A4EE9027-2EDE-4902-9E0B-CDE0F1A86326}" srcOrd="2" destOrd="0" parTransId="{D585A8E6-834B-4983-AB64-740A915F345D}" sibTransId="{AA85FE8C-09B1-4414-8C01-546A2A35059E}"/>
    <dgm:cxn modelId="{FDD85710-32DC-4F4C-85B5-8C0D894A39EC}" type="presOf" srcId="{6E18C0D4-31E3-4298-B3FC-F54C33B5CF79}" destId="{FC437C5A-D11B-44D9-A2AA-EFF12355B1F3}" srcOrd="0" destOrd="3" presId="urn:microsoft.com/office/officeart/2005/8/layout/hList1"/>
    <dgm:cxn modelId="{789E6711-6A8B-438C-B8D4-7959ED15C676}" srcId="{1286EB88-C8B0-4E82-9B11-2CF7CFC40F5F}" destId="{38A8B924-02CB-47AD-9294-82D22FE9D698}" srcOrd="0" destOrd="0" parTransId="{714439C8-555D-4134-8580-AD264AADEE15}" sibTransId="{CDD135EC-7D22-416B-8E12-933ABDEE48D6}"/>
    <dgm:cxn modelId="{2784A122-0845-4F3C-ABD9-2A7ED14BB746}" type="presOf" srcId="{1D0AA737-BEA6-429A-A023-ABA23C30D39F}" destId="{3304EB33-16D4-43FF-8E98-7DF36CF72487}" srcOrd="0" destOrd="0" presId="urn:microsoft.com/office/officeart/2005/8/layout/hList1"/>
    <dgm:cxn modelId="{5BE21426-EA6A-4DE3-A7AA-366FE3859434}" type="presOf" srcId="{1286EB88-C8B0-4E82-9B11-2CF7CFC40F5F}" destId="{3F05074B-03DD-44BC-9A35-100A18463F99}" srcOrd="0" destOrd="0" presId="urn:microsoft.com/office/officeart/2005/8/layout/hList1"/>
    <dgm:cxn modelId="{93A25A26-C509-461E-B04C-B985DC1F0916}" srcId="{4F667DF3-C58D-4F56-B316-EABEB9D395F1}" destId="{80D6EC35-052F-423F-B199-9BD32C118C97}" srcOrd="1" destOrd="0" parTransId="{0807DCC7-1F1F-47A0-B874-A65C29D0C6EE}" sibTransId="{44D2BDC2-9738-4359-B179-A781D6BA1590}"/>
    <dgm:cxn modelId="{FAF14E2C-AD22-49A7-9365-F4FC80FD70EF}" type="presOf" srcId="{A1F4EE1E-2DBE-414C-8996-2AC19D2556B3}" destId="{FC437C5A-D11B-44D9-A2AA-EFF12355B1F3}" srcOrd="0" destOrd="2" presId="urn:microsoft.com/office/officeart/2005/8/layout/hList1"/>
    <dgm:cxn modelId="{B4B60640-D99D-4443-8E7D-5BA2A7F24E67}" type="presOf" srcId="{80D6EC35-052F-423F-B199-9BD32C118C97}" destId="{37347047-C5CB-482A-8D28-2F9316BF41AC}" srcOrd="0" destOrd="1" presId="urn:microsoft.com/office/officeart/2005/8/layout/hList1"/>
    <dgm:cxn modelId="{63BA6740-17D7-4C94-A05C-127D83C16B3F}" type="presOf" srcId="{20BFF1E8-5806-4A8B-BFCC-98A9110F78DD}" destId="{8E111CB1-3383-4E6E-8CC3-356A6B2B8E79}" srcOrd="0" destOrd="0" presId="urn:microsoft.com/office/officeart/2005/8/layout/hList1"/>
    <dgm:cxn modelId="{6E595840-AB6F-45AD-82B6-585150F44EC4}" srcId="{38A8B924-02CB-47AD-9294-82D22FE9D698}" destId="{20BFF1E8-5806-4A8B-BFCC-98A9110F78DD}" srcOrd="0" destOrd="0" parTransId="{9360CA8F-BF99-482D-8F30-DE9DCF14C715}" sibTransId="{D504BB59-B924-48BC-8218-4AD754AD9489}"/>
    <dgm:cxn modelId="{B9061461-C3AD-4FDA-9952-548BC860A907}" srcId="{22845039-9C6A-49BE-B6D1-D883A1FD455B}" destId="{D57C49A3-337B-446B-8B0C-F18993E1B01D}" srcOrd="0" destOrd="0" parTransId="{F5200420-1891-4EFB-AB36-0EBEDB876C91}" sibTransId="{5047D1DA-5A5C-4008-AD52-77C4C93B567F}"/>
    <dgm:cxn modelId="{4486A64B-F2D2-4731-970C-A5A8A1BC56E5}" type="presOf" srcId="{38A8B924-02CB-47AD-9294-82D22FE9D698}" destId="{CA9D2D72-C0B4-47AC-BCA8-0285B559CEED}" srcOrd="0" destOrd="0" presId="urn:microsoft.com/office/officeart/2005/8/layout/hList1"/>
    <dgm:cxn modelId="{8AA15452-F4E5-4C58-AF4F-C52C2A89EE3E}" type="presOf" srcId="{A4EE9027-2EDE-4902-9E0B-CDE0F1A86326}" destId="{17C03E92-2DFF-450D-B174-5931CE672558}" srcOrd="0" destOrd="0" presId="urn:microsoft.com/office/officeart/2005/8/layout/hList1"/>
    <dgm:cxn modelId="{23E80853-CFB6-4661-8A46-5DCE6078ECB9}" srcId="{A4EE9027-2EDE-4902-9E0B-CDE0F1A86326}" destId="{2169F557-8A53-418A-9A09-3C30ADBACD45}" srcOrd="0" destOrd="0" parTransId="{56A739B2-AB0E-4ABF-A7C1-B65250B168C1}" sibTransId="{799BC40C-1162-4E67-BC91-83CE9C1E724F}"/>
    <dgm:cxn modelId="{1537C254-1B7E-4BE8-85FA-EA27DA29857C}" srcId="{1D0AA737-BEA6-429A-A023-ABA23C30D39F}" destId="{A1F4EE1E-2DBE-414C-8996-2AC19D2556B3}" srcOrd="2" destOrd="0" parTransId="{6B57D385-ED96-4E30-9E7B-305029A13A5E}" sibTransId="{C8E10FAB-F33A-491C-80A0-4578FE52AE3C}"/>
    <dgm:cxn modelId="{F210D554-E5A6-46BD-A38F-C6D69AAA6AA7}" type="presOf" srcId="{A2208549-CFAA-40BE-9CB3-246D65533AD1}" destId="{9DFC8E5E-5D90-418C-8B87-FD020B1B47E9}" srcOrd="0" destOrd="1" presId="urn:microsoft.com/office/officeart/2005/8/layout/hList1"/>
    <dgm:cxn modelId="{2D7F5978-2CA7-4154-8924-8503841B8A85}" type="presOf" srcId="{A77542FD-9D44-4923-836B-34F40EC920EE}" destId="{FC437C5A-D11B-44D9-A2AA-EFF12355B1F3}" srcOrd="0" destOrd="0" presId="urn:microsoft.com/office/officeart/2005/8/layout/hList1"/>
    <dgm:cxn modelId="{CDAA817B-3606-4470-A15C-6A9B5C27DF0D}" type="presOf" srcId="{4F667DF3-C58D-4F56-B316-EABEB9D395F1}" destId="{0A6BAD59-3064-41DF-990F-3839C2CD253A}" srcOrd="0" destOrd="0" presId="urn:microsoft.com/office/officeart/2005/8/layout/hList1"/>
    <dgm:cxn modelId="{93169A7E-A207-4361-9319-E829D5523E9F}" type="presOf" srcId="{ABAD79D1-5984-4EFB-929C-FC1948B1A04C}" destId="{9749252F-E89D-43AE-B270-4EE9A4B75586}" srcOrd="0" destOrd="1" presId="urn:microsoft.com/office/officeart/2005/8/layout/hList1"/>
    <dgm:cxn modelId="{7C468C83-9E53-40CE-AC06-B51BD539ACAC}" srcId="{1286EB88-C8B0-4E82-9B11-2CF7CFC40F5F}" destId="{22845039-9C6A-49BE-B6D1-D883A1FD455B}" srcOrd="3" destOrd="0" parTransId="{E8626680-4896-45A5-956C-BE5E4A39CC77}" sibTransId="{79916757-20E1-430F-8721-75D71A7F11AA}"/>
    <dgm:cxn modelId="{D132E18C-D06A-4414-A10A-3954073E8470}" type="presOf" srcId="{88DC088A-2801-41E8-A2D9-624A0E1DEE29}" destId="{8E111CB1-3383-4E6E-8CC3-356A6B2B8E79}" srcOrd="0" destOrd="2" presId="urn:microsoft.com/office/officeart/2005/8/layout/hList1"/>
    <dgm:cxn modelId="{4620519A-8D1D-4C13-90E8-9D74708566BE}" srcId="{1D0AA737-BEA6-429A-A023-ABA23C30D39F}" destId="{6E18C0D4-31E3-4298-B3FC-F54C33B5CF79}" srcOrd="3" destOrd="0" parTransId="{DD554730-B5F4-4D43-A454-5BC39CEAB6D5}" sibTransId="{D83C9BF9-6E8F-4814-BA5C-95142FF0DE11}"/>
    <dgm:cxn modelId="{8F47EEA4-E585-44F1-9E53-F3EC550330C0}" srcId="{A4EE9027-2EDE-4902-9E0B-CDE0F1A86326}" destId="{ABAD79D1-5984-4EFB-929C-FC1948B1A04C}" srcOrd="1" destOrd="0" parTransId="{19B85CE5-E504-45DF-B688-4524B19487A4}" sibTransId="{F72F244F-F4FA-436D-86D4-6D4FB4E95094}"/>
    <dgm:cxn modelId="{230283B1-72B3-4CFE-94CB-DA31B97A3F6F}" srcId="{1D0AA737-BEA6-429A-A023-ABA23C30D39F}" destId="{EE07A51F-CD2D-4E3F-9850-A2AEC901499D}" srcOrd="1" destOrd="0" parTransId="{66BF8C39-56B4-45CF-8327-260B92B8ABBB}" sibTransId="{0DBEF4B7-8915-40FD-B583-006926E2E16D}"/>
    <dgm:cxn modelId="{58CCA5BD-B1E3-4155-B81F-DE0CCEC79B6F}" srcId="{38A8B924-02CB-47AD-9294-82D22FE9D698}" destId="{E859FC9D-A4EC-41C6-9F18-6A60E1720E7C}" srcOrd="1" destOrd="0" parTransId="{68FA90B1-DE53-45CF-8063-5F3A77B7781B}" sibTransId="{92E91636-776B-4C42-9CE1-B1B44E3FEE17}"/>
    <dgm:cxn modelId="{A1EFB7C7-DB72-4BD5-8A8F-327BB7F29E1B}" type="presOf" srcId="{2169F557-8A53-418A-9A09-3C30ADBACD45}" destId="{9749252F-E89D-43AE-B270-4EE9A4B75586}" srcOrd="0" destOrd="0" presId="urn:microsoft.com/office/officeart/2005/8/layout/hList1"/>
    <dgm:cxn modelId="{FE7C76CB-41D7-493E-95F2-4E29C4B4A423}" srcId="{4F667DF3-C58D-4F56-B316-EABEB9D395F1}" destId="{CAF46FF1-367B-4195-907D-E384C8D382F8}" srcOrd="0" destOrd="0" parTransId="{D00A2584-3ADA-4D1A-9573-D94A1A676174}" sibTransId="{13952BD6-B46D-440A-BADE-3E8DC366D4A7}"/>
    <dgm:cxn modelId="{5769F3CB-8B11-4922-8016-03D822FCBCB5}" srcId="{22845039-9C6A-49BE-B6D1-D883A1FD455B}" destId="{A2208549-CFAA-40BE-9CB3-246D65533AD1}" srcOrd="1" destOrd="0" parTransId="{F862D166-5ABF-4631-BB40-9A01C98E390F}" sibTransId="{B8AF4802-5ED6-49A7-B79A-FC38D5066404}"/>
    <dgm:cxn modelId="{AA9B14CD-55F6-4CF6-8584-B7A5BE41B682}" type="presOf" srcId="{D57C49A3-337B-446B-8B0C-F18993E1B01D}" destId="{9DFC8E5E-5D90-418C-8B87-FD020B1B47E9}" srcOrd="0" destOrd="0" presId="urn:microsoft.com/office/officeart/2005/8/layout/hList1"/>
    <dgm:cxn modelId="{E74C0ED4-E85C-47A7-A2AD-58EB1885B11D}" srcId="{38A8B924-02CB-47AD-9294-82D22FE9D698}" destId="{88DC088A-2801-41E8-A2D9-624A0E1DEE29}" srcOrd="2" destOrd="0" parTransId="{CD67278C-27C0-42BD-86D3-B1E98ECCAB4C}" sibTransId="{B03401FB-8C61-4654-9CC0-B53C7D4DACA6}"/>
    <dgm:cxn modelId="{8F1A62D8-EB38-4D3D-B5E6-9398FD30DD59}" srcId="{1286EB88-C8B0-4E82-9B11-2CF7CFC40F5F}" destId="{1D0AA737-BEA6-429A-A023-ABA23C30D39F}" srcOrd="4" destOrd="0" parTransId="{BB814BF3-0CA0-41C5-A717-74DF8006B419}" sibTransId="{20DBD906-158E-4E74-8AC2-879451474786}"/>
    <dgm:cxn modelId="{B93DCCEA-C7DA-4398-B729-BB124A0956CC}" type="presOf" srcId="{CAF46FF1-367B-4195-907D-E384C8D382F8}" destId="{37347047-C5CB-482A-8D28-2F9316BF41AC}" srcOrd="0" destOrd="0" presId="urn:microsoft.com/office/officeart/2005/8/layout/hList1"/>
    <dgm:cxn modelId="{31F5A4EB-62DE-44CE-87E3-5AA009BE0F85}" type="presOf" srcId="{22845039-9C6A-49BE-B6D1-D883A1FD455B}" destId="{B94A5EE1-0373-4B0C-A285-6E8A2E865207}" srcOrd="0" destOrd="0" presId="urn:microsoft.com/office/officeart/2005/8/layout/hList1"/>
    <dgm:cxn modelId="{22F636FE-C6A3-4872-A93C-1DE3468B5578}" type="presOf" srcId="{EE07A51F-CD2D-4E3F-9850-A2AEC901499D}" destId="{FC437C5A-D11B-44D9-A2AA-EFF12355B1F3}" srcOrd="0" destOrd="1" presId="urn:microsoft.com/office/officeart/2005/8/layout/hList1"/>
    <dgm:cxn modelId="{629CEBFE-75E2-41E6-9352-6522FD919E52}" srcId="{1D0AA737-BEA6-429A-A023-ABA23C30D39F}" destId="{A77542FD-9D44-4923-836B-34F40EC920EE}" srcOrd="0" destOrd="0" parTransId="{3C4F7186-E186-4C7E-8B59-3B3E65ECE252}" sibTransId="{32B559C1-E2AD-4AFB-A5C9-9D0BCDD55CB8}"/>
    <dgm:cxn modelId="{15686589-91CE-4DD9-BBFD-0BAB0221E82B}" type="presParOf" srcId="{3F05074B-03DD-44BC-9A35-100A18463F99}" destId="{D91655D7-C2C9-423A-862C-E98882590B1E}" srcOrd="0" destOrd="0" presId="urn:microsoft.com/office/officeart/2005/8/layout/hList1"/>
    <dgm:cxn modelId="{1743218E-52D9-48B2-ADC3-01D88FA695FF}" type="presParOf" srcId="{D91655D7-C2C9-423A-862C-E98882590B1E}" destId="{CA9D2D72-C0B4-47AC-BCA8-0285B559CEED}" srcOrd="0" destOrd="0" presId="urn:microsoft.com/office/officeart/2005/8/layout/hList1"/>
    <dgm:cxn modelId="{F73EEA8E-AED0-4877-94D7-CF7D9F018514}" type="presParOf" srcId="{D91655D7-C2C9-423A-862C-E98882590B1E}" destId="{8E111CB1-3383-4E6E-8CC3-356A6B2B8E79}" srcOrd="1" destOrd="0" presId="urn:microsoft.com/office/officeart/2005/8/layout/hList1"/>
    <dgm:cxn modelId="{005F70DC-CDF5-4725-8CA7-46C879B15BF0}" type="presParOf" srcId="{3F05074B-03DD-44BC-9A35-100A18463F99}" destId="{A5A9A27A-7338-428F-9472-28E5EE26B75F}" srcOrd="1" destOrd="0" presId="urn:microsoft.com/office/officeart/2005/8/layout/hList1"/>
    <dgm:cxn modelId="{917A5E71-C9C8-45CD-94C9-C5328C09AFE2}" type="presParOf" srcId="{3F05074B-03DD-44BC-9A35-100A18463F99}" destId="{20D4BBD7-428E-4A68-90F4-BC40D0AA9EE9}" srcOrd="2" destOrd="0" presId="urn:microsoft.com/office/officeart/2005/8/layout/hList1"/>
    <dgm:cxn modelId="{BD9C1FD1-910C-4497-84D9-3D7A2BA33EEC}" type="presParOf" srcId="{20D4BBD7-428E-4A68-90F4-BC40D0AA9EE9}" destId="{0A6BAD59-3064-41DF-990F-3839C2CD253A}" srcOrd="0" destOrd="0" presId="urn:microsoft.com/office/officeart/2005/8/layout/hList1"/>
    <dgm:cxn modelId="{C980C55B-2448-4419-959E-7C9C05ABF4CD}" type="presParOf" srcId="{20D4BBD7-428E-4A68-90F4-BC40D0AA9EE9}" destId="{37347047-C5CB-482A-8D28-2F9316BF41AC}" srcOrd="1" destOrd="0" presId="urn:microsoft.com/office/officeart/2005/8/layout/hList1"/>
    <dgm:cxn modelId="{E20DC223-898B-4D5E-8E19-6F7E4283A135}" type="presParOf" srcId="{3F05074B-03DD-44BC-9A35-100A18463F99}" destId="{FBD6C040-5373-4202-B921-11F662C22279}" srcOrd="3" destOrd="0" presId="urn:microsoft.com/office/officeart/2005/8/layout/hList1"/>
    <dgm:cxn modelId="{2D5F397A-832F-4830-9C18-C190DB38BEE1}" type="presParOf" srcId="{3F05074B-03DD-44BC-9A35-100A18463F99}" destId="{25BD366D-A140-4F50-A075-E81C42765804}" srcOrd="4" destOrd="0" presId="urn:microsoft.com/office/officeart/2005/8/layout/hList1"/>
    <dgm:cxn modelId="{76EBAC29-E682-4CD6-9D10-70E9226032E8}" type="presParOf" srcId="{25BD366D-A140-4F50-A075-E81C42765804}" destId="{17C03E92-2DFF-450D-B174-5931CE672558}" srcOrd="0" destOrd="0" presId="urn:microsoft.com/office/officeart/2005/8/layout/hList1"/>
    <dgm:cxn modelId="{2DEC1A13-4368-4B15-9CFA-CB903BA04077}" type="presParOf" srcId="{25BD366D-A140-4F50-A075-E81C42765804}" destId="{9749252F-E89D-43AE-B270-4EE9A4B75586}" srcOrd="1" destOrd="0" presId="urn:microsoft.com/office/officeart/2005/8/layout/hList1"/>
    <dgm:cxn modelId="{82BE43DC-587A-4917-AFFD-0CD308D4AC4A}" type="presParOf" srcId="{3F05074B-03DD-44BC-9A35-100A18463F99}" destId="{7038C438-993F-4747-80F5-BCD819729A2F}" srcOrd="5" destOrd="0" presId="urn:microsoft.com/office/officeart/2005/8/layout/hList1"/>
    <dgm:cxn modelId="{8403A28B-FBCE-4FD2-8C95-D752BF6FDE09}" type="presParOf" srcId="{3F05074B-03DD-44BC-9A35-100A18463F99}" destId="{56262666-8804-4AE6-816D-191BC1E7EBC4}" srcOrd="6" destOrd="0" presId="urn:microsoft.com/office/officeart/2005/8/layout/hList1"/>
    <dgm:cxn modelId="{89BB48DA-036E-4473-9F9A-528CE7069BF2}" type="presParOf" srcId="{56262666-8804-4AE6-816D-191BC1E7EBC4}" destId="{B94A5EE1-0373-4B0C-A285-6E8A2E865207}" srcOrd="0" destOrd="0" presId="urn:microsoft.com/office/officeart/2005/8/layout/hList1"/>
    <dgm:cxn modelId="{011C95F8-30BA-40E7-BA8A-8E84C9941738}" type="presParOf" srcId="{56262666-8804-4AE6-816D-191BC1E7EBC4}" destId="{9DFC8E5E-5D90-418C-8B87-FD020B1B47E9}" srcOrd="1" destOrd="0" presId="urn:microsoft.com/office/officeart/2005/8/layout/hList1"/>
    <dgm:cxn modelId="{A3E2EC4B-2669-45DF-B53B-BE7E72B09642}" type="presParOf" srcId="{3F05074B-03DD-44BC-9A35-100A18463F99}" destId="{796CEBD6-A7B5-4A9D-ACFD-A8D13759F0D1}" srcOrd="7" destOrd="0" presId="urn:microsoft.com/office/officeart/2005/8/layout/hList1"/>
    <dgm:cxn modelId="{F771975F-1035-4233-9E77-2E9AE2A7CAB0}" type="presParOf" srcId="{3F05074B-03DD-44BC-9A35-100A18463F99}" destId="{7F6C6A71-8129-4C90-8A92-DF3356F6A68F}" srcOrd="8" destOrd="0" presId="urn:microsoft.com/office/officeart/2005/8/layout/hList1"/>
    <dgm:cxn modelId="{27681B4C-3BF6-41A4-8890-44BDDC562843}" type="presParOf" srcId="{7F6C6A71-8129-4C90-8A92-DF3356F6A68F}" destId="{3304EB33-16D4-43FF-8E98-7DF36CF72487}" srcOrd="0" destOrd="0" presId="urn:microsoft.com/office/officeart/2005/8/layout/hList1"/>
    <dgm:cxn modelId="{FE44BADE-19AE-43FF-A872-48171B325835}" type="presParOf" srcId="{7F6C6A71-8129-4C90-8A92-DF3356F6A68F}" destId="{FC437C5A-D11B-44D9-A2AA-EFF12355B1F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6A34A2-E77F-406D-A32C-F257CF6F42E1}">
      <dsp:nvSpPr>
        <dsp:cNvPr id="0" name=""/>
        <dsp:cNvSpPr/>
      </dsp:nvSpPr>
      <dsp:spPr>
        <a:xfrm>
          <a:off x="0" y="4413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B13B18-C8DC-4D13-9648-8F61DAD4D294}">
      <dsp:nvSpPr>
        <dsp:cNvPr id="0" name=""/>
        <dsp:cNvSpPr/>
      </dsp:nvSpPr>
      <dsp:spPr>
        <a:xfrm>
          <a:off x="284404" y="215954"/>
          <a:ext cx="517099" cy="517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4FFBAB-7DAD-439D-BD15-6D1B646EA0C6}">
      <dsp:nvSpPr>
        <dsp:cNvPr id="0" name=""/>
        <dsp:cNvSpPr/>
      </dsp:nvSpPr>
      <dsp:spPr>
        <a:xfrm>
          <a:off x="1085908" y="4413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Importing Files, Modules and Packages</a:t>
          </a:r>
          <a:r>
            <a:rPr lang="en-US" sz="1900" u="sng" kern="1200">
              <a:hlinkClick xmlns:r="http://schemas.openxmlformats.org/officeDocument/2006/relationships" r:id="rId3"/>
            </a:rPr>
            <a:t>¶</a:t>
          </a:r>
          <a:endParaRPr lang="en-US" sz="1900" kern="1200"/>
        </a:p>
      </dsp:txBody>
      <dsp:txXfrm>
        <a:off x="1085908" y="4413"/>
        <a:ext cx="5711766" cy="940180"/>
      </dsp:txXfrm>
    </dsp:sp>
    <dsp:sp modelId="{A0117D7C-8E7C-4B48-BAAB-56CAB4B03FCC}">
      <dsp:nvSpPr>
        <dsp:cNvPr id="0" name=""/>
        <dsp:cNvSpPr/>
      </dsp:nvSpPr>
      <dsp:spPr>
        <a:xfrm>
          <a:off x="0" y="1179639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87D852-9398-4B66-BAB1-41F11D238769}">
      <dsp:nvSpPr>
        <dsp:cNvPr id="0" name=""/>
        <dsp:cNvSpPr/>
      </dsp:nvSpPr>
      <dsp:spPr>
        <a:xfrm>
          <a:off x="284404" y="1391180"/>
          <a:ext cx="517099" cy="517099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91B8A-ABAB-44DE-BFE2-276DE982F449}">
      <dsp:nvSpPr>
        <dsp:cNvPr id="0" name=""/>
        <dsp:cNvSpPr/>
      </dsp:nvSpPr>
      <dsp:spPr>
        <a:xfrm>
          <a:off x="1085908" y="1179639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2. Processing the Data</a:t>
          </a:r>
          <a:endParaRPr lang="en-US" sz="1900" kern="1200"/>
        </a:p>
      </dsp:txBody>
      <dsp:txXfrm>
        <a:off x="1085908" y="1179639"/>
        <a:ext cx="5711766" cy="940180"/>
      </dsp:txXfrm>
    </dsp:sp>
    <dsp:sp modelId="{7C5838EF-37A7-42BA-9325-ED4D6A76D016}">
      <dsp:nvSpPr>
        <dsp:cNvPr id="0" name=""/>
        <dsp:cNvSpPr/>
      </dsp:nvSpPr>
      <dsp:spPr>
        <a:xfrm>
          <a:off x="0" y="2354865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F0064-CA5E-4DDD-B646-1633FEE350D1}">
      <dsp:nvSpPr>
        <dsp:cNvPr id="0" name=""/>
        <dsp:cNvSpPr/>
      </dsp:nvSpPr>
      <dsp:spPr>
        <a:xfrm>
          <a:off x="284404" y="2566406"/>
          <a:ext cx="517099" cy="517099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A7AE7-8087-4C1D-AE91-6DA1455600F7}">
      <dsp:nvSpPr>
        <dsp:cNvPr id="0" name=""/>
        <dsp:cNvSpPr/>
      </dsp:nvSpPr>
      <dsp:spPr>
        <a:xfrm>
          <a:off x="1085908" y="2354865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 dirty="0"/>
            <a:t>3. Dataset Refinement for Question</a:t>
          </a:r>
          <a:endParaRPr lang="en-US" sz="1900" kern="1200" dirty="0"/>
        </a:p>
      </dsp:txBody>
      <dsp:txXfrm>
        <a:off x="1085908" y="2354865"/>
        <a:ext cx="5711766" cy="940180"/>
      </dsp:txXfrm>
    </dsp:sp>
    <dsp:sp modelId="{66EDB16D-BC8F-41DE-8EF7-B8D4D2BC938F}">
      <dsp:nvSpPr>
        <dsp:cNvPr id="0" name=""/>
        <dsp:cNvSpPr/>
      </dsp:nvSpPr>
      <dsp:spPr>
        <a:xfrm>
          <a:off x="0" y="3530091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1B7986-945C-4730-A16D-E77B440C9EF1}">
      <dsp:nvSpPr>
        <dsp:cNvPr id="0" name=""/>
        <dsp:cNvSpPr/>
      </dsp:nvSpPr>
      <dsp:spPr>
        <a:xfrm>
          <a:off x="284404" y="3741632"/>
          <a:ext cx="517099" cy="517099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0AA64-2652-4BCE-8273-157FB564F650}">
      <dsp:nvSpPr>
        <dsp:cNvPr id="0" name=""/>
        <dsp:cNvSpPr/>
      </dsp:nvSpPr>
      <dsp:spPr>
        <a:xfrm>
          <a:off x="1085908" y="3530091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 dirty="0"/>
            <a:t>4. Graphical Analysis</a:t>
          </a:r>
          <a:endParaRPr lang="en-US" sz="1900" kern="1200" dirty="0"/>
        </a:p>
      </dsp:txBody>
      <dsp:txXfrm>
        <a:off x="1085908" y="3530091"/>
        <a:ext cx="5711766" cy="940180"/>
      </dsp:txXfrm>
    </dsp:sp>
    <dsp:sp modelId="{ED808242-01B8-448C-82D3-CF1FD91994EB}">
      <dsp:nvSpPr>
        <dsp:cNvPr id="0" name=""/>
        <dsp:cNvSpPr/>
      </dsp:nvSpPr>
      <dsp:spPr>
        <a:xfrm>
          <a:off x="0" y="4705317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7B17AE-66A8-401F-AB3A-308CF3D62AF4}">
      <dsp:nvSpPr>
        <dsp:cNvPr id="0" name=""/>
        <dsp:cNvSpPr/>
      </dsp:nvSpPr>
      <dsp:spPr>
        <a:xfrm>
          <a:off x="284404" y="4916857"/>
          <a:ext cx="517099" cy="517099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1C238-08CD-4CD8-8359-F921D2F49B96}">
      <dsp:nvSpPr>
        <dsp:cNvPr id="0" name=""/>
        <dsp:cNvSpPr/>
      </dsp:nvSpPr>
      <dsp:spPr>
        <a:xfrm>
          <a:off x="1085908" y="4705317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 dirty="0"/>
            <a:t>5. Final Reflection</a:t>
          </a:r>
          <a:endParaRPr lang="en-US" sz="1900" kern="1200" dirty="0"/>
        </a:p>
      </dsp:txBody>
      <dsp:txXfrm>
        <a:off x="1085908" y="4705317"/>
        <a:ext cx="5711766" cy="9401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D2D72-C0B4-47AC-BCA8-0285B559CEED}">
      <dsp:nvSpPr>
        <dsp:cNvPr id="0" name=""/>
        <dsp:cNvSpPr/>
      </dsp:nvSpPr>
      <dsp:spPr>
        <a:xfrm>
          <a:off x="4714" y="259322"/>
          <a:ext cx="1807368" cy="4032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Salary</a:t>
          </a:r>
          <a:endParaRPr lang="en-US" sz="1400" kern="1200"/>
        </a:p>
      </dsp:txBody>
      <dsp:txXfrm>
        <a:off x="4714" y="259322"/>
        <a:ext cx="1807368" cy="403200"/>
      </dsp:txXfrm>
    </dsp:sp>
    <dsp:sp modelId="{8E111CB1-3383-4E6E-8CC3-356A6B2B8E79}">
      <dsp:nvSpPr>
        <dsp:cNvPr id="0" name=""/>
        <dsp:cNvSpPr/>
      </dsp:nvSpPr>
      <dsp:spPr>
        <a:xfrm>
          <a:off x="4714" y="662522"/>
          <a:ext cx="1807368" cy="286423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Tech roles (Software Engineer, Data Engineer) pay the most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Senior roles (Executive, Director) also high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Entry-level/support roles pay less</a:t>
          </a:r>
        </a:p>
      </dsp:txBody>
      <dsp:txXfrm>
        <a:off x="4714" y="662522"/>
        <a:ext cx="1807368" cy="2864235"/>
      </dsp:txXfrm>
    </dsp:sp>
    <dsp:sp modelId="{0A6BAD59-3064-41DF-990F-3839C2CD253A}">
      <dsp:nvSpPr>
        <dsp:cNvPr id="0" name=""/>
        <dsp:cNvSpPr/>
      </dsp:nvSpPr>
      <dsp:spPr>
        <a:xfrm>
          <a:off x="2065115" y="259322"/>
          <a:ext cx="1807368" cy="403200"/>
        </a:xfrm>
        <a:prstGeom prst="rect">
          <a:avLst/>
        </a:prstGeom>
        <a:solidFill>
          <a:schemeClr val="accent5">
            <a:hueOff val="531780"/>
            <a:satOff val="-5973"/>
            <a:lumOff val="-1275"/>
            <a:alphaOff val="0"/>
          </a:schemeClr>
        </a:solidFill>
        <a:ln w="15875" cap="flat" cmpd="sng" algn="ctr">
          <a:solidFill>
            <a:schemeClr val="accent5">
              <a:hueOff val="531780"/>
              <a:satOff val="-5973"/>
              <a:lumOff val="-1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Applications</a:t>
          </a:r>
          <a:endParaRPr lang="en-US" sz="1400" kern="1200"/>
        </a:p>
      </dsp:txBody>
      <dsp:txXfrm>
        <a:off x="2065115" y="259322"/>
        <a:ext cx="1807368" cy="403200"/>
      </dsp:txXfrm>
    </dsp:sp>
    <dsp:sp modelId="{37347047-C5CB-482A-8D28-2F9316BF41AC}">
      <dsp:nvSpPr>
        <dsp:cNvPr id="0" name=""/>
        <dsp:cNvSpPr/>
      </dsp:nvSpPr>
      <dsp:spPr>
        <a:xfrm>
          <a:off x="2065115" y="662522"/>
          <a:ext cx="1807368" cy="2864235"/>
        </a:xfrm>
        <a:prstGeom prst="rect">
          <a:avLst/>
        </a:prstGeom>
        <a:solidFill>
          <a:schemeClr val="accent5">
            <a:tint val="40000"/>
            <a:alpha val="90000"/>
            <a:hueOff val="566666"/>
            <a:satOff val="-4971"/>
            <a:lumOff val="-396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566666"/>
              <a:satOff val="-4971"/>
              <a:lumOff val="-3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Data Analyst gets the most, followed by Software Engineer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Lower-paying or highly specialized jobs attract fewer applicants</a:t>
          </a:r>
        </a:p>
      </dsp:txBody>
      <dsp:txXfrm>
        <a:off x="2065115" y="662522"/>
        <a:ext cx="1807368" cy="2864235"/>
      </dsp:txXfrm>
    </dsp:sp>
    <dsp:sp modelId="{17C03E92-2DFF-450D-B174-5931CE672558}">
      <dsp:nvSpPr>
        <dsp:cNvPr id="0" name=""/>
        <dsp:cNvSpPr/>
      </dsp:nvSpPr>
      <dsp:spPr>
        <a:xfrm>
          <a:off x="4125515" y="259322"/>
          <a:ext cx="1807368" cy="403200"/>
        </a:xfrm>
        <a:prstGeom prst="rect">
          <a:avLst/>
        </a:prstGeom>
        <a:solidFill>
          <a:schemeClr val="accent5">
            <a:hueOff val="1063560"/>
            <a:satOff val="-11946"/>
            <a:lumOff val="-2549"/>
            <a:alphaOff val="0"/>
          </a:schemeClr>
        </a:solidFill>
        <a:ln w="15875" cap="flat" cmpd="sng" algn="ctr">
          <a:solidFill>
            <a:schemeClr val="accent5">
              <a:hueOff val="1063560"/>
              <a:satOff val="-11946"/>
              <a:lumOff val="-2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Views vs Applications</a:t>
          </a:r>
          <a:endParaRPr lang="en-US" sz="1400" kern="1200"/>
        </a:p>
      </dsp:txBody>
      <dsp:txXfrm>
        <a:off x="4125515" y="259322"/>
        <a:ext cx="1807368" cy="403200"/>
      </dsp:txXfrm>
    </dsp:sp>
    <dsp:sp modelId="{9749252F-E89D-43AE-B270-4EE9A4B75586}">
      <dsp:nvSpPr>
        <dsp:cNvPr id="0" name=""/>
        <dsp:cNvSpPr/>
      </dsp:nvSpPr>
      <dsp:spPr>
        <a:xfrm>
          <a:off x="4125515" y="662522"/>
          <a:ext cx="1807368" cy="2864235"/>
        </a:xfrm>
        <a:prstGeom prst="rect">
          <a:avLst/>
        </a:prstGeom>
        <a:solidFill>
          <a:schemeClr val="accent5">
            <a:tint val="40000"/>
            <a:alpha val="90000"/>
            <a:hueOff val="1133332"/>
            <a:satOff val="-9941"/>
            <a:lumOff val="-791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1133332"/>
              <a:satOff val="-9941"/>
              <a:lumOff val="-7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Jobs are viewed more than applied to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High-paying jobs get attention but fewer applications (strict requirements)</a:t>
          </a:r>
        </a:p>
      </dsp:txBody>
      <dsp:txXfrm>
        <a:off x="4125515" y="662522"/>
        <a:ext cx="1807368" cy="2864235"/>
      </dsp:txXfrm>
    </dsp:sp>
    <dsp:sp modelId="{B94A5EE1-0373-4B0C-A285-6E8A2E865207}">
      <dsp:nvSpPr>
        <dsp:cNvPr id="0" name=""/>
        <dsp:cNvSpPr/>
      </dsp:nvSpPr>
      <dsp:spPr>
        <a:xfrm>
          <a:off x="6185916" y="259322"/>
          <a:ext cx="1807368" cy="403200"/>
        </a:xfrm>
        <a:prstGeom prst="rect">
          <a:avLst/>
        </a:prstGeom>
        <a:solidFill>
          <a:schemeClr val="accent5">
            <a:hueOff val="1595340"/>
            <a:satOff val="-17918"/>
            <a:lumOff val="-3824"/>
            <a:alphaOff val="0"/>
          </a:schemeClr>
        </a:solidFill>
        <a:ln w="15875" cap="flat" cmpd="sng" algn="ctr">
          <a:solidFill>
            <a:schemeClr val="accent5">
              <a:hueOff val="1595340"/>
              <a:satOff val="-17918"/>
              <a:lumOff val="-3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Salary vs Applications</a:t>
          </a:r>
          <a:endParaRPr lang="en-US" sz="1400" kern="1200"/>
        </a:p>
      </dsp:txBody>
      <dsp:txXfrm>
        <a:off x="6185916" y="259322"/>
        <a:ext cx="1807368" cy="403200"/>
      </dsp:txXfrm>
    </dsp:sp>
    <dsp:sp modelId="{9DFC8E5E-5D90-418C-8B87-FD020B1B47E9}">
      <dsp:nvSpPr>
        <dsp:cNvPr id="0" name=""/>
        <dsp:cNvSpPr/>
      </dsp:nvSpPr>
      <dsp:spPr>
        <a:xfrm>
          <a:off x="6185916" y="662522"/>
          <a:ext cx="1807368" cy="2864235"/>
        </a:xfrm>
        <a:prstGeom prst="rect">
          <a:avLst/>
        </a:prstGeom>
        <a:solidFill>
          <a:schemeClr val="accent5">
            <a:tint val="40000"/>
            <a:alpha val="90000"/>
            <a:hueOff val="1699998"/>
            <a:satOff val="-14912"/>
            <a:lumOff val="-1187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1699998"/>
              <a:satOff val="-14912"/>
              <a:lumOff val="-118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Higher pay ≠ more applications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Mid-range jobs attract the most applicants (accessible + decent pay)</a:t>
          </a:r>
        </a:p>
      </dsp:txBody>
      <dsp:txXfrm>
        <a:off x="6185916" y="662522"/>
        <a:ext cx="1807368" cy="2864235"/>
      </dsp:txXfrm>
    </dsp:sp>
    <dsp:sp modelId="{3304EB33-16D4-43FF-8E98-7DF36CF72487}">
      <dsp:nvSpPr>
        <dsp:cNvPr id="0" name=""/>
        <dsp:cNvSpPr/>
      </dsp:nvSpPr>
      <dsp:spPr>
        <a:xfrm>
          <a:off x="8246316" y="259322"/>
          <a:ext cx="1807368" cy="403200"/>
        </a:xfrm>
        <a:prstGeom prst="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accent5">
              <a:hueOff val="2127120"/>
              <a:satOff val="-23891"/>
              <a:lumOff val="-5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Overall Insight</a:t>
          </a:r>
          <a:endParaRPr lang="en-US" sz="1400" kern="1200"/>
        </a:p>
      </dsp:txBody>
      <dsp:txXfrm>
        <a:off x="8246316" y="259322"/>
        <a:ext cx="1807368" cy="403200"/>
      </dsp:txXfrm>
    </dsp:sp>
    <dsp:sp modelId="{FC437C5A-D11B-44D9-A2AA-EFF12355B1F3}">
      <dsp:nvSpPr>
        <dsp:cNvPr id="0" name=""/>
        <dsp:cNvSpPr/>
      </dsp:nvSpPr>
      <dsp:spPr>
        <a:xfrm>
          <a:off x="8246316" y="662522"/>
          <a:ext cx="1807368" cy="2864235"/>
        </a:xfrm>
        <a:prstGeom prst="rect">
          <a:avLst/>
        </a:prstGeom>
        <a:solidFill>
          <a:schemeClr val="accent5">
            <a:tint val="40000"/>
            <a:alpha val="90000"/>
            <a:hueOff val="2266664"/>
            <a:satOff val="-19882"/>
            <a:lumOff val="-1583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2266664"/>
              <a:satOff val="-19882"/>
              <a:lumOff val="-15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Salary, visibility, and job type all shape applicant behavior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High pay draws interest but not always applications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Mid-range roles generate most applications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Visibility shows interest, but applications depend on role accessibility</a:t>
          </a:r>
        </a:p>
      </dsp:txBody>
      <dsp:txXfrm>
        <a:off x="8246316" y="662522"/>
        <a:ext cx="1807368" cy="2864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B8F4D-85D0-4265-AE01-5988B5C75677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61AB-9B75-4068-BA1A-9A31ADF316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0284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61AB-9B75-4068-BA1A-9A31ADF31684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946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C18E-A593-46A9-A21B-6D85AF21D845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9E06-E9DE-47D1-A6A9-1889B8436967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4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C18E-A593-46A9-A21B-6D85AF21D845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9E06-E9DE-47D1-A6A9-1889B8436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9542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C18E-A593-46A9-A21B-6D85AF21D845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9E06-E9DE-47D1-A6A9-1889B8436967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07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C18E-A593-46A9-A21B-6D85AF21D845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9E06-E9DE-47D1-A6A9-1889B8436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704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C18E-A593-46A9-A21B-6D85AF21D845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9E06-E9DE-47D1-A6A9-1889B8436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677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C18E-A593-46A9-A21B-6D85AF21D845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9E06-E9DE-47D1-A6A9-1889B8436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456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C18E-A593-46A9-A21B-6D85AF21D845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9E06-E9DE-47D1-A6A9-1889B8436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208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A7AC18E-A593-46A9-A21B-6D85AF21D845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DB9E06-E9DE-47D1-A6A9-1889B8436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4010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C18E-A593-46A9-A21B-6D85AF21D845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9E06-E9DE-47D1-A6A9-1889B8436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428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C18E-A593-46A9-A21B-6D85AF21D845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9E06-E9DE-47D1-A6A9-1889B8436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381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C18E-A593-46A9-A21B-6D85AF21D845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9E06-E9DE-47D1-A6A9-1889B8436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311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A7AC18E-A593-46A9-A21B-6D85AF21D845}" type="datetimeFigureOut">
              <a:rPr lang="en-SG" smtClean="0"/>
              <a:t>30/11/2025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2DB9E06-E9DE-47D1-A6A9-1889B8436967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49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B6AFF-24C4-F767-0C26-1A866B0A5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263" y="911348"/>
            <a:ext cx="10835473" cy="2133599"/>
          </a:xfrm>
        </p:spPr>
        <p:txBody>
          <a:bodyPr>
            <a:normAutofit fontScale="90000"/>
          </a:bodyPr>
          <a:lstStyle/>
          <a:p>
            <a:r>
              <a:rPr lang="en-US" altLang="en-US" sz="4000">
                <a:latin typeface="Arial" panose="020B0604020202020204" pitchFamily="34" charset="0"/>
              </a:rPr>
              <a:t>How do salary, application volume, and job visibility vary across the top 10 most-applied job titles and </a:t>
            </a:r>
            <a:br>
              <a:rPr lang="en-US" altLang="en-US" sz="4000">
                <a:latin typeface="Arial" panose="020B0604020202020204" pitchFamily="34" charset="0"/>
              </a:rPr>
            </a:br>
            <a:r>
              <a:rPr lang="en-US" altLang="en-US" sz="4000">
                <a:latin typeface="Arial" panose="020B0604020202020204" pitchFamily="34" charset="0"/>
              </a:rPr>
              <a:t>how do they influence each other? </a:t>
            </a:r>
            <a:endParaRPr lang="en-SG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E5BE1-9EC0-8426-F5A0-B788878E7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2452" y="4375761"/>
            <a:ext cx="9144000" cy="1424649"/>
          </a:xfrm>
        </p:spPr>
        <p:txBody>
          <a:bodyPr>
            <a:normAutofit lnSpcReduction="10000"/>
          </a:bodyPr>
          <a:lstStyle/>
          <a:p>
            <a:r>
              <a:rPr lang="en-SG" dirty="0"/>
              <a:t>By</a:t>
            </a:r>
          </a:p>
          <a:p>
            <a:r>
              <a:rPr lang="en-SG" dirty="0"/>
              <a:t>YAN MYOE NAING</a:t>
            </a:r>
          </a:p>
          <a:p>
            <a:r>
              <a:rPr lang="en-SG" dirty="0"/>
              <a:t>DAAA/FT/1B/05</a:t>
            </a:r>
          </a:p>
        </p:txBody>
      </p:sp>
    </p:spTree>
    <p:extLst>
      <p:ext uri="{BB962C8B-B14F-4D97-AF65-F5344CB8AC3E}">
        <p14:creationId xmlns:p14="http://schemas.microsoft.com/office/powerpoint/2010/main" val="3097578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59B5F-8B2E-0742-870E-8B20FE29A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SG" sz="3600">
                <a:solidFill>
                  <a:srgbClr val="FFFFFF"/>
                </a:solidFill>
              </a:rPr>
              <a:t>Summary of Steps Taken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F87371-FF0A-3406-774C-F2BC511ABF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8928229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2509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826F0-B608-F951-555F-37A234A3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Pandas: Importing &amp; Processing Data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D4BA84A-67FF-A947-23B6-6CA89E863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415" y="2982191"/>
            <a:ext cx="2776257" cy="10549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0B1FF4-EFA5-7336-8684-5C4CDDFA9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434" y="1845734"/>
            <a:ext cx="2670574" cy="38287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5AC896-FCF9-9A3E-3367-6B071CE92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672" y="1968946"/>
            <a:ext cx="2010792" cy="35516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529557-68C9-946E-E117-27ACB3679DE7}"/>
              </a:ext>
            </a:extLst>
          </p:cNvPr>
          <p:cNvSpPr txBox="1"/>
          <p:nvPr/>
        </p:nvSpPr>
        <p:spPr>
          <a:xfrm>
            <a:off x="8000999" y="1845734"/>
            <a:ext cx="378229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numpy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pandas,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matplotlibs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Check the stats of the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dataframe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Delete unnecessary/unrelated columns 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Delete columns with so many missing values 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Delete Duplicated Columns (formatted tables)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Delete </a:t>
            </a:r>
            <a:r>
              <a:rPr lang="en-SG" dirty="0"/>
              <a:t>parsing failure columns (time columns)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SG" dirty="0"/>
              <a:t>Delete columns with single values (sponsored)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3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207E69B-0F6F-4D15-A988-616519F68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113C24-A97F-448E-BE2B-73E74A61D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754787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BE2326-1637-FC86-7C28-57A4F887E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311728"/>
            <a:ext cx="6960917" cy="657302"/>
          </a:xfrm>
        </p:spPr>
        <p:txBody>
          <a:bodyPr>
            <a:normAutofit/>
          </a:bodyPr>
          <a:lstStyle/>
          <a:p>
            <a:r>
              <a:rPr lang="en-SG" sz="4000" dirty="0">
                <a:solidFill>
                  <a:srgbClr val="FFFFFF"/>
                </a:solidFill>
              </a:rPr>
              <a:t>Pandas: Processing Data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0A780D9-5E57-FF0A-7440-F955E01F4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1" y="1184565"/>
            <a:ext cx="3586002" cy="490450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 Merge all tables (except posting5 as it contains the same data with posting 1 )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Handling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 Low missingness (&lt;2%)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FFFFFF"/>
                </a:solidFill>
              </a:rPr>
              <a:t>company_name</a:t>
            </a:r>
            <a:r>
              <a:rPr lang="en-US" sz="1500" dirty="0">
                <a:solidFill>
                  <a:srgbClr val="FFFFFF"/>
                </a:solidFill>
              </a:rPr>
              <a:t>, </a:t>
            </a:r>
            <a:r>
              <a:rPr lang="en-US" sz="1500" dirty="0" err="1">
                <a:solidFill>
                  <a:srgbClr val="FFFFFF"/>
                </a:solidFill>
              </a:rPr>
              <a:t>company_id</a:t>
            </a:r>
            <a:r>
              <a:rPr lang="en-US" sz="1500" dirty="0">
                <a:solidFill>
                  <a:srgbClr val="FFFFFF"/>
                </a:solidFill>
              </a:rPr>
              <a:t> → "Unknown"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views → 0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 Moderate missingness (~20–25%)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FFFFFF"/>
                </a:solidFill>
              </a:rPr>
              <a:t>formatted_experience_level</a:t>
            </a:r>
            <a:r>
              <a:rPr lang="en-US" sz="1500" dirty="0">
                <a:solidFill>
                  <a:srgbClr val="FFFFFF"/>
                </a:solidFill>
              </a:rPr>
              <a:t> → "Unknown“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. High missingness (&gt;75%)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FFFFFF"/>
                </a:solidFill>
              </a:rPr>
              <a:t>max_salary</a:t>
            </a:r>
            <a:r>
              <a:rPr lang="en-US" sz="1500" dirty="0">
                <a:solidFill>
                  <a:srgbClr val="FFFFFF"/>
                </a:solidFill>
              </a:rPr>
              <a:t> → mean within job title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currency → "USD" 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FFFFFF"/>
                </a:solidFill>
              </a:rPr>
              <a:t>compensation_type</a:t>
            </a:r>
            <a:r>
              <a:rPr lang="en-US" sz="1500" dirty="0">
                <a:solidFill>
                  <a:srgbClr val="FFFFFF"/>
                </a:solidFill>
              </a:rPr>
              <a:t> → "BASE_SALARY"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EA43E2-C9E1-4415-824D-FC15F7E61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9A568C1-2D56-A291-31A4-42FF79EB9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505" y="30581"/>
            <a:ext cx="5752857" cy="43002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AB744F-B227-0C56-6F6F-2604AE25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515" y="4534107"/>
            <a:ext cx="4208026" cy="15549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0874BB-6FDB-006E-71B9-C1D7EB397A3D}"/>
              </a:ext>
            </a:extLst>
          </p:cNvPr>
          <p:cNvSpPr txBox="1"/>
          <p:nvPr/>
        </p:nvSpPr>
        <p:spPr>
          <a:xfrm>
            <a:off x="3926916" y="3471225"/>
            <a:ext cx="3652982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Rule-based imputation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&lt;85 → HOURLY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 &lt;2100 → WEEKLY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&gt;2100 → MONTHLY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≥5200 → YEARLY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Biweekly rare → assumed specific jobs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Extreme hourly/weekly → corrected to YEARLY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 Very high missingness but interpretable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applies → 0 (integer)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FFFFFF"/>
                </a:solidFill>
              </a:rPr>
              <a:t>remote_allowed</a:t>
            </a:r>
            <a:r>
              <a:rPr lang="en-US" sz="1500" dirty="0">
                <a:solidFill>
                  <a:srgbClr val="FFFFFF"/>
                </a:solidFill>
              </a:rPr>
              <a:t> → 0 (</a:t>
            </a:r>
            <a:r>
              <a:rPr lang="en-US" sz="1500" dirty="0" err="1">
                <a:solidFill>
                  <a:srgbClr val="FFFFFF"/>
                </a:solidFill>
              </a:rPr>
              <a:t>boolean</a:t>
            </a:r>
            <a:r>
              <a:rPr lang="en-US" sz="1500" dirty="0">
                <a:solidFill>
                  <a:srgbClr val="FFFFFF"/>
                </a:solidFill>
              </a:rPr>
              <a:t>)</a:t>
            </a:r>
            <a:endParaRPr lang="en-SG" sz="15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50AA06-66C6-4293-2479-C25D9C2F9BA9}"/>
              </a:ext>
            </a:extLst>
          </p:cNvPr>
          <p:cNvCxnSpPr>
            <a:cxnSpLocks/>
          </p:cNvCxnSpPr>
          <p:nvPr/>
        </p:nvCxnSpPr>
        <p:spPr>
          <a:xfrm>
            <a:off x="3946256" y="1070264"/>
            <a:ext cx="0" cy="5392881"/>
          </a:xfrm>
          <a:prstGeom prst="line">
            <a:avLst/>
          </a:prstGeom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72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C12895-2A4E-26A7-B0E1-771062FFEEAC}"/>
              </a:ext>
            </a:extLst>
          </p:cNvPr>
          <p:cNvSpPr/>
          <p:nvPr/>
        </p:nvSpPr>
        <p:spPr>
          <a:xfrm>
            <a:off x="4655126" y="4243009"/>
            <a:ext cx="7416044" cy="202270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6D9C7D-CBAE-E14F-304F-C18027DE6974}"/>
              </a:ext>
            </a:extLst>
          </p:cNvPr>
          <p:cNvSpPr/>
          <p:nvPr/>
        </p:nvSpPr>
        <p:spPr>
          <a:xfrm>
            <a:off x="7741227" y="737754"/>
            <a:ext cx="4450773" cy="3325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9CB17A-BB58-2BC2-18A3-75F2793C778A}"/>
              </a:ext>
            </a:extLst>
          </p:cNvPr>
          <p:cNvSpPr/>
          <p:nvPr/>
        </p:nvSpPr>
        <p:spPr>
          <a:xfrm>
            <a:off x="0" y="737754"/>
            <a:ext cx="4290085" cy="55279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AF7BFE-8F25-D2D7-9CD9-5F1C0DB96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825224"/>
          </a:xfrm>
        </p:spPr>
        <p:txBody>
          <a:bodyPr/>
          <a:lstStyle/>
          <a:p>
            <a:r>
              <a:rPr lang="en-SG" dirty="0"/>
              <a:t>Dataset Refinement for Question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59408D-A54D-19E1-5E5A-7D454685A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2736" y="1020105"/>
            <a:ext cx="3965040" cy="2396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79E779-BEAE-B657-5D30-20DDD07C3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220" y="828075"/>
            <a:ext cx="4113562" cy="12604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87B561-4A53-6004-BA7B-742473054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220" y="4243009"/>
            <a:ext cx="3993696" cy="17897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D72D2-93F0-8401-3337-91012B72F987}"/>
              </a:ext>
            </a:extLst>
          </p:cNvPr>
          <p:cNvSpPr txBox="1"/>
          <p:nvPr/>
        </p:nvSpPr>
        <p:spPr>
          <a:xfrm>
            <a:off x="120830" y="3441368"/>
            <a:ext cx="3883134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u="sng" dirty="0"/>
              <a:t>Filtering the Necessary Data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Focus only on </a:t>
            </a:r>
            <a:r>
              <a:rPr lang="en-US" sz="1400" b="1" dirty="0"/>
              <a:t>Top 10 most-applied job titles</a:t>
            </a:r>
            <a:endParaRPr lang="en-US" sz="1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  - Group job titles and sum total applications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  - Sort by application count (highest first)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  - Select top 10 titles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  - Filter dataset to include only those titles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  - Use this subset for further analysis</a:t>
            </a:r>
          </a:p>
          <a:p>
            <a:endParaRPr lang="en-SG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FEE90-114B-5D6C-A17E-525E023E1BEF}"/>
              </a:ext>
            </a:extLst>
          </p:cNvPr>
          <p:cNvSpPr txBox="1"/>
          <p:nvPr/>
        </p:nvSpPr>
        <p:spPr>
          <a:xfrm>
            <a:off x="7901916" y="2088573"/>
            <a:ext cx="372551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b="1" u="sng" dirty="0"/>
              <a:t>Normalizing Salary to Hourly Rate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Assumption: 40 hours/week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- Yearly ÷ 2080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- Monthly ÷ 173.33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- Weekly ÷ 40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- Biweekly ÷ 80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- Hourly left unchanged</a:t>
            </a:r>
          </a:p>
          <a:p>
            <a:endParaRPr lang="en-SG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04390-2F41-7423-ED65-6DD5BDC6530C}"/>
              </a:ext>
            </a:extLst>
          </p:cNvPr>
          <p:cNvSpPr txBox="1"/>
          <p:nvPr/>
        </p:nvSpPr>
        <p:spPr>
          <a:xfrm>
            <a:off x="4655126" y="4243009"/>
            <a:ext cx="4831773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b="1" u="sng" dirty="0"/>
              <a:t>Why Remove Outliers?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Outliers distort averages and compress visualizations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- Removing them ensures: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- Fair comparisons across job titles and locations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- Clearer charts (e.g., boxplots)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- Lower bound = Q1 − 1.5 × IQR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- Upper bound = Q3 + 1.5 × IQR</a:t>
            </a:r>
          </a:p>
          <a:p>
            <a:endParaRPr lang="en-SG" sz="1400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72EC769-BF9C-054D-6F4D-CDCAFC534DB3}"/>
              </a:ext>
            </a:extLst>
          </p:cNvPr>
          <p:cNvSpPr/>
          <p:nvPr/>
        </p:nvSpPr>
        <p:spPr>
          <a:xfrm>
            <a:off x="4655126" y="1589809"/>
            <a:ext cx="2763983" cy="3740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7FC8B8C-7599-968F-1368-2CE94ACA0557}"/>
              </a:ext>
            </a:extLst>
          </p:cNvPr>
          <p:cNvSpPr/>
          <p:nvPr/>
        </p:nvSpPr>
        <p:spPr>
          <a:xfrm>
            <a:off x="9975273" y="3740727"/>
            <a:ext cx="290945" cy="6824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9960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1D2FE-1381-79A5-F9BC-0F2B7F172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4" y="213867"/>
            <a:ext cx="9969038" cy="544670"/>
          </a:xfrm>
        </p:spPr>
        <p:txBody>
          <a:bodyPr>
            <a:normAutofit fontScale="90000"/>
          </a:bodyPr>
          <a:lstStyle/>
          <a:p>
            <a:r>
              <a:rPr lang="en-SG" dirty="0"/>
              <a:t>4. Graphical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FD314B-F6FB-D1CE-7A3E-62D407F82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0487" b="31832"/>
          <a:stretch>
            <a:fillRect/>
          </a:stretch>
        </p:blipFill>
        <p:spPr>
          <a:xfrm>
            <a:off x="224444" y="994141"/>
            <a:ext cx="4486861" cy="3307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8A3D38-A5A5-E9C4-8CE2-9CB1C2A20F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23" b="26058"/>
          <a:stretch>
            <a:fillRect/>
          </a:stretch>
        </p:blipFill>
        <p:spPr>
          <a:xfrm>
            <a:off x="6639033" y="876338"/>
            <a:ext cx="4644411" cy="33076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5C9D5D-FBC9-E7DF-3A1A-0C41146DA5B3}"/>
              </a:ext>
            </a:extLst>
          </p:cNvPr>
          <p:cNvSpPr txBox="1"/>
          <p:nvPr/>
        </p:nvSpPr>
        <p:spPr>
          <a:xfrm>
            <a:off x="66892" y="4301833"/>
            <a:ext cx="560456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Applies vs Views by Job 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Views inconsistently exceed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 Analyst and Software Engineer show high views and strong application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Administrative Assistant and Recruiter have lower engagement overall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Helps identify which roles attract attention vs. which roles get more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1B53AA-7C81-36C3-1266-8836D66489E6}"/>
              </a:ext>
            </a:extLst>
          </p:cNvPr>
          <p:cNvSpPr txBox="1"/>
          <p:nvPr/>
        </p:nvSpPr>
        <p:spPr>
          <a:xfrm>
            <a:off x="6362995" y="4301833"/>
            <a:ext cx="560456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Applies vs Views by Job 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Senior Software Engineer and Software Engineer lead with the highest average pay.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Technical roles like Data Engineer and Full Stack Engineer consistently rank above business or support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Administrative Assistant and Recruiter show the lowest average salaries, reflecting market demand.</a:t>
            </a:r>
          </a:p>
        </p:txBody>
      </p:sp>
    </p:spTree>
    <p:extLst>
      <p:ext uri="{BB962C8B-B14F-4D97-AF65-F5344CB8AC3E}">
        <p14:creationId xmlns:p14="http://schemas.microsoft.com/office/powerpoint/2010/main" val="274060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AC8E822-87EF-2C6B-FE84-7B9C7F3A5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499" r="2788" b="33275"/>
          <a:stretch>
            <a:fillRect/>
          </a:stretch>
        </p:blipFill>
        <p:spPr>
          <a:xfrm>
            <a:off x="314424" y="1066945"/>
            <a:ext cx="4481614" cy="311206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C5E1CE-0CA1-9471-28AF-68F3036D7D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9" t="-1074" r="15957" b="31331"/>
          <a:stretch>
            <a:fillRect/>
          </a:stretch>
        </p:blipFill>
        <p:spPr>
          <a:xfrm>
            <a:off x="7090781" y="1066945"/>
            <a:ext cx="4148987" cy="311789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79DCCD3-69A1-F3E3-2AB2-BD18289AC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4" y="213867"/>
            <a:ext cx="9969038" cy="544670"/>
          </a:xfrm>
        </p:spPr>
        <p:txBody>
          <a:bodyPr>
            <a:normAutofit fontScale="90000"/>
          </a:bodyPr>
          <a:lstStyle/>
          <a:p>
            <a:r>
              <a:rPr lang="en-SG" dirty="0"/>
              <a:t>4. Graphical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4687A-E3DD-33E1-8C10-511E7C74EC0B}"/>
              </a:ext>
            </a:extLst>
          </p:cNvPr>
          <p:cNvSpPr txBox="1"/>
          <p:nvPr/>
        </p:nvSpPr>
        <p:spPr>
          <a:xfrm>
            <a:off x="224444" y="4094014"/>
            <a:ext cx="56045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Salary Distribution by Job Title</a:t>
            </a:r>
          </a:p>
          <a:p>
            <a:endParaRPr lang="en-US" sz="1400" b="1" u="sng" dirty="0"/>
          </a:p>
          <a:p>
            <a:r>
              <a:rPr lang="en-US" sz="1400" dirty="0"/>
              <a:t>This boxplot compares salary ranges across five experience levels: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Executive</a:t>
            </a:r>
            <a:r>
              <a:rPr lang="en-US" sz="1400" dirty="0"/>
              <a:t>: Highest median and smallest spread.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Mid-Senior level</a:t>
            </a:r>
            <a:r>
              <a:rPr lang="en-US" sz="1400" dirty="0"/>
              <a:t>: Strong median with widest variability.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Associate</a:t>
            </a:r>
            <a:r>
              <a:rPr lang="en-US" sz="1400" dirty="0"/>
              <a:t>: Lowest median salary with tighter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Entry level</a:t>
            </a:r>
            <a:r>
              <a:rPr lang="en-US" sz="1400" dirty="0"/>
              <a:t>: Low median and wide spread.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Director</a:t>
            </a:r>
            <a:r>
              <a:rPr lang="en-US" sz="1400" dirty="0"/>
              <a:t>: Tight salary range, but high median pay.</a:t>
            </a:r>
          </a:p>
          <a:p>
            <a:r>
              <a:rPr lang="en-US" sz="1400" dirty="0"/>
              <a:t>Outliers were removed using IQR filtering to ensure fair comparison and clearer visualization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0CDBAE-8710-3D10-CAC0-34B00E11FCD1}"/>
              </a:ext>
            </a:extLst>
          </p:cNvPr>
          <p:cNvSpPr txBox="1"/>
          <p:nvPr/>
        </p:nvSpPr>
        <p:spPr>
          <a:xfrm>
            <a:off x="6362995" y="4301833"/>
            <a:ext cx="560456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Overall Hourly Salary Distribution</a:t>
            </a:r>
          </a:p>
          <a:p>
            <a:endParaRPr lang="en-US" sz="1400" b="1" u="sng" dirty="0"/>
          </a:p>
          <a:p>
            <a:r>
              <a:rPr lang="en-US" sz="1400" dirty="0"/>
              <a:t>This histogram shows how hourly salaries are distributed across all jobs: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Most salaries fall between </a:t>
            </a:r>
            <a:r>
              <a:rPr lang="en-US" sz="1400" b="1" dirty="0"/>
              <a:t>0 and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Concentration with the highest frequency around </a:t>
            </a:r>
            <a:r>
              <a:rPr lang="en-US" sz="1400" b="1" dirty="0"/>
              <a:t>40 and 50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Salaries above </a:t>
            </a:r>
            <a:r>
              <a:rPr lang="en-US" sz="1400" b="1" dirty="0"/>
              <a:t>$100/hour</a:t>
            </a:r>
            <a:r>
              <a:rPr lang="en-US" sz="1400" dirty="0"/>
              <a:t> are rare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distribution is </a:t>
            </a:r>
            <a:r>
              <a:rPr lang="en-US" sz="1400" b="1" dirty="0"/>
              <a:t>right-skewed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4032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C24063-8373-FE1D-BB1B-D931C401FE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9" b="27505"/>
          <a:stretch>
            <a:fillRect/>
          </a:stretch>
        </p:blipFill>
        <p:spPr>
          <a:xfrm>
            <a:off x="6515100" y="695273"/>
            <a:ext cx="4416136" cy="33987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2B2B02-EFEB-A61C-B539-3F2E7F5C2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63" y="857319"/>
            <a:ext cx="4254038" cy="342373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865A93A-AE38-53C0-E78A-9A72F65A2B47}"/>
              </a:ext>
            </a:extLst>
          </p:cNvPr>
          <p:cNvSpPr txBox="1">
            <a:spLocks/>
          </p:cNvSpPr>
          <p:nvPr/>
        </p:nvSpPr>
        <p:spPr>
          <a:xfrm>
            <a:off x="224444" y="213867"/>
            <a:ext cx="9969038" cy="5446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/>
              <a:t>4. Graphical Analysis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77A0FE-F01F-FCDC-20C6-EDAF1CAF900A}"/>
              </a:ext>
            </a:extLst>
          </p:cNvPr>
          <p:cNvSpPr txBox="1"/>
          <p:nvPr/>
        </p:nvSpPr>
        <p:spPr>
          <a:xfrm>
            <a:off x="224444" y="4094014"/>
            <a:ext cx="56045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Application Share by Top 10 Job Titles</a:t>
            </a:r>
          </a:p>
          <a:p>
            <a:endParaRPr lang="en-US" sz="1400" b="1" u="sng" dirty="0"/>
          </a:p>
          <a:p>
            <a:r>
              <a:rPr lang="en-US" sz="1400" dirty="0"/>
              <a:t>This pie chart shows how applications are distributed across the top 10 job titles.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Data Analyst</a:t>
            </a:r>
            <a:r>
              <a:rPr lang="en-US" sz="1400" dirty="0"/>
              <a:t> dominates with over 20% of total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Software Engineer</a:t>
            </a:r>
            <a:r>
              <a:rPr lang="en-US" sz="1400" dirty="0"/>
              <a:t> and </a:t>
            </a:r>
            <a:r>
              <a:rPr lang="en-US" sz="1400" b="1" dirty="0"/>
              <a:t>Data Engineer</a:t>
            </a:r>
            <a:r>
              <a:rPr lang="en-US" sz="1400" dirty="0"/>
              <a:t> also attract high volumes.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Roles like </a:t>
            </a:r>
            <a:r>
              <a:rPr lang="en-US" sz="1400" b="1" dirty="0"/>
              <a:t>Recruiter</a:t>
            </a:r>
            <a:r>
              <a:rPr lang="en-US" sz="1400" dirty="0"/>
              <a:t> and </a:t>
            </a:r>
            <a:r>
              <a:rPr lang="en-US" sz="1400" b="1" dirty="0"/>
              <a:t>Administrative Assistant</a:t>
            </a:r>
            <a:r>
              <a:rPr lang="en-US" sz="1400" dirty="0"/>
              <a:t> receive fewer applications.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7A9DB4-06B2-E3F1-DF89-32EDE30D13DA}"/>
              </a:ext>
            </a:extLst>
          </p:cNvPr>
          <p:cNvSpPr txBox="1"/>
          <p:nvPr/>
        </p:nvSpPr>
        <p:spPr>
          <a:xfrm>
            <a:off x="6362995" y="4083620"/>
            <a:ext cx="56045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Salary vs Application Volume</a:t>
            </a:r>
          </a:p>
          <a:p>
            <a:endParaRPr lang="en-US" sz="14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Most applications cluster around jobs </a:t>
            </a:r>
            <a:r>
              <a:rPr lang="en-US" sz="1400" b="1" dirty="0"/>
              <a:t>below $100/hours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Higher interest in mid-range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As salary increases, application volume tends to drop, possibly due to stricter qualifications.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spread shows </a:t>
            </a:r>
            <a:r>
              <a:rPr lang="en-US" sz="1400" b="1" dirty="0"/>
              <a:t>no strong linear correlation</a:t>
            </a:r>
            <a:r>
              <a:rPr lang="en-US" sz="1400" dirty="0"/>
              <a:t>, indicating that salary alone doesn't drive application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4910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602BC-46E7-1F8D-1072-5155676D1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22652"/>
          </a:xfrm>
        </p:spPr>
        <p:txBody>
          <a:bodyPr>
            <a:normAutofit/>
          </a:bodyPr>
          <a:lstStyle/>
          <a:p>
            <a:r>
              <a:rPr lang="en-SG" dirty="0"/>
              <a:t>5. Final Reflection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4BCEB9-2224-C21F-2568-FDF6B3860A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00234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63879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244</TotalTime>
  <Words>874</Words>
  <Application>Microsoft Office PowerPoint</Application>
  <PresentationFormat>Widescreen</PresentationFormat>
  <Paragraphs>123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Retrospect</vt:lpstr>
      <vt:lpstr>How do salary, application volume, and job visibility vary across the top 10 most-applied job titles and  how do they influence each other? </vt:lpstr>
      <vt:lpstr>Summary of Steps Taken</vt:lpstr>
      <vt:lpstr>Pandas: Importing &amp; Processing Data</vt:lpstr>
      <vt:lpstr>Pandas: Processing Data</vt:lpstr>
      <vt:lpstr>Dataset Refinement for Question</vt:lpstr>
      <vt:lpstr>4. Graphical Analysis</vt:lpstr>
      <vt:lpstr>4. Graphical Analysis</vt:lpstr>
      <vt:lpstr>PowerPoint Presentation</vt:lpstr>
      <vt:lpstr>5. Final 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 MYOE NAING</dc:creator>
  <cp:lastModifiedBy>YAN MYOE NAING</cp:lastModifiedBy>
  <cp:revision>3</cp:revision>
  <dcterms:created xsi:type="dcterms:W3CDTF">2025-11-29T17:27:06Z</dcterms:created>
  <dcterms:modified xsi:type="dcterms:W3CDTF">2025-11-30T06:48:36Z</dcterms:modified>
</cp:coreProperties>
</file>